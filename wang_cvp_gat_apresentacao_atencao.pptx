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90288"/>
            <a:ext cx="12191695" cy="54864"/>
          </a:xfrm>
          <a:prstGeom prst="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F8F9C"/>
                </a:solidFill>
                <a:latin typeface="Consolas"/>
              </a:rPr>
              <a:t>MODELO  ·  MANOMETRIA DE ALTA RESOLUÇÃO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Wang CVP-GAT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0" i="0">
                <a:solidFill>
                  <a:srgbClr val="C7D3DE"/>
                </a:solidFill>
                <a:latin typeface="Calibri"/>
              </a:rPr>
              <a:t>Como funciona, de ponta a ponta — e quão fiel é ao artigo original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9FB3C4"/>
                </a:solidFill>
                <a:latin typeface="Calibri"/>
              </a:rPr>
              <a:t>Grafo de 6 regiões de vigor esofágico + atenção esparsa sobre um backbone CNN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A9EB0"/>
                </a:solidFill>
                <a:latin typeface="Calibri"/>
              </a:rPr>
              <a:t>Base teórica: Wang et al., </a:t>
            </a:r>
            <a:r>
              <a:rPr sz="1300" b="0" i="1">
                <a:solidFill>
                  <a:srgbClr val="8A9EB0"/>
                </a:solidFill>
                <a:latin typeface="Calibri"/>
              </a:rPr>
              <a:t>Attention graph convolutional nets for esophageal contraction pattern recognition in HRM</a:t>
            </a:r>
            <a:r>
              <a:rPr sz="1300" b="0" i="0">
                <a:solidFill>
                  <a:srgbClr val="8A9EB0"/>
                </a:solidFill>
                <a:latin typeface="Calibri"/>
              </a:rPr>
              <a:t>  ·  Biomed. Signal Process. Control 68 (2021) 102734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F8F9C"/>
                </a:solidFill>
                <a:latin typeface="Consolas"/>
              </a:rPr>
              <a:t>ROTEIRO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42A3E"/>
                </a:solidFill>
                <a:latin typeface="Calibri"/>
              </a:rPr>
              <a:t>O que esta apresentação cobre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257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C"/>
            </a:solidFill>
          </a:ln>
          <a:effectLst/>
          <a:effectLst>
            <a:outerShdw blurRad="60000" dist="25000" dir="5400000" rotWithShape="0">
              <a:srgbClr val="8A7A6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5257800" cy="128016"/>
          </a:xfrm>
          <a:prstGeom prst="rect">
            <a:avLst/>
          </a:prstGeom>
          <a:solidFill>
            <a:srgbClr val="1F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42A3E"/>
                </a:solidFill>
                <a:latin typeface="Calibri"/>
              </a:rPr>
              <a:t>Parte 1 — Como o modelo funciona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06040"/>
            <a:ext cx="45720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1F8F9C"/>
                </a:solidFill>
                <a:latin typeface="Calibri"/>
              </a:rPr>
              <a:t>›  </a:t>
            </a:r>
            <a:r>
              <a:rPr sz="1500" b="0" i="0">
                <a:solidFill>
                  <a:srgbClr val="33424F"/>
                </a:solidFill>
                <a:latin typeface="Calibri"/>
              </a:rPr>
              <a:t>O problema clínico e por que um grafo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1F8F9C"/>
                </a:solidFill>
                <a:latin typeface="Calibri"/>
              </a:rPr>
              <a:t>›  </a:t>
            </a:r>
            <a:r>
              <a:rPr sz="1500" b="0" i="0">
                <a:solidFill>
                  <a:srgbClr val="33424F"/>
                </a:solidFill>
                <a:latin typeface="Calibri"/>
              </a:rPr>
              <a:t>Pipeline de ponta a ponta (tensores)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1F8F9C"/>
                </a:solidFill>
                <a:latin typeface="Calibri"/>
              </a:rPr>
              <a:t>›  </a:t>
            </a:r>
            <a:r>
              <a:rPr sz="1500" b="0" i="0">
                <a:solidFill>
                  <a:srgbClr val="33424F"/>
                </a:solidFill>
                <a:latin typeface="Calibri"/>
              </a:rPr>
              <a:t>Cada camada com a imagem real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1F8F9C"/>
                </a:solidFill>
                <a:latin typeface="Calibri"/>
              </a:rPr>
              <a:t>›  </a:t>
            </a:r>
            <a:r>
              <a:rPr sz="1500" b="0" i="0">
                <a:solidFill>
                  <a:srgbClr val="33424F"/>
                </a:solidFill>
                <a:latin typeface="Calibri"/>
              </a:rPr>
              <a:t>O que são nós e arestas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1F8F9C"/>
                </a:solidFill>
                <a:latin typeface="Calibri"/>
              </a:rPr>
              <a:t>›  </a:t>
            </a:r>
            <a:r>
              <a:rPr sz="1500" b="0" i="0">
                <a:solidFill>
                  <a:srgbClr val="33424F"/>
                </a:solidFill>
                <a:latin typeface="Calibri"/>
              </a:rPr>
              <a:t>Como distingue os 6 diagnósticos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00200"/>
            <a:ext cx="5257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C"/>
            </a:solidFill>
          </a:ln>
          <a:effectLst/>
          <a:effectLst>
            <a:outerShdw blurRad="60000" dist="25000" dir="5400000" rotWithShape="0">
              <a:srgbClr val="8A7A6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600200"/>
            <a:ext cx="5257800" cy="128016"/>
          </a:xfrm>
          <a:prstGeom prst="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92024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42A3E"/>
                </a:solidFill>
                <a:latin typeface="Calibri"/>
              </a:rPr>
              <a:t>Parte 2 — Fidelidade ao artigo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06040"/>
            <a:ext cx="45720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E2661A"/>
                </a:solidFill>
                <a:latin typeface="Calibri"/>
              </a:rPr>
              <a:t>›  </a:t>
            </a:r>
            <a:r>
              <a:rPr sz="1500" b="0" i="0">
                <a:solidFill>
                  <a:srgbClr val="33424F"/>
                </a:solidFill>
                <a:latin typeface="Calibri"/>
              </a:rPr>
              <a:t>A arquitetura original de Wang 2021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E2661A"/>
                </a:solidFill>
                <a:latin typeface="Calibri"/>
              </a:rPr>
              <a:t>›  </a:t>
            </a:r>
            <a:r>
              <a:rPr sz="1500" b="0" i="0">
                <a:solidFill>
                  <a:srgbClr val="33424F"/>
                </a:solidFill>
                <a:latin typeface="Calibri"/>
              </a:rPr>
              <a:t>O que foi mantido (núcleo conceitual)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E2661A"/>
                </a:solidFill>
                <a:latin typeface="Calibri"/>
              </a:rPr>
              <a:t>›  </a:t>
            </a:r>
            <a:r>
              <a:rPr sz="1500" b="0" i="0">
                <a:solidFill>
                  <a:srgbClr val="33424F"/>
                </a:solidFill>
                <a:latin typeface="Calibri"/>
              </a:rPr>
              <a:t>O que foi re-engenhado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E2661A"/>
                </a:solidFill>
                <a:latin typeface="Calibri"/>
              </a:rPr>
              <a:t>›  </a:t>
            </a:r>
            <a:r>
              <a:rPr sz="1500" b="0" i="0">
                <a:solidFill>
                  <a:srgbClr val="33424F"/>
                </a:solidFill>
                <a:latin typeface="Calibri"/>
              </a:rPr>
              <a:t>A diferença crítica: como nascem os nós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E2661A"/>
                </a:solidFill>
                <a:latin typeface="Calibri"/>
              </a:rPr>
              <a:t>›  </a:t>
            </a:r>
            <a:r>
              <a:rPr sz="1500" b="0" i="0">
                <a:solidFill>
                  <a:srgbClr val="33424F"/>
                </a:solidFill>
                <a:latin typeface="Calibri"/>
              </a:rPr>
              <a:t>Veredito de fidelidade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F8F9C"/>
                </a:solidFill>
                <a:latin typeface="Consolas"/>
              </a:rPr>
              <a:t>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42A3E"/>
                </a:solidFill>
                <a:latin typeface="Calibri"/>
              </a:rPr>
              <a:t>O problema clínico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66751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42A3E"/>
                </a:solidFill>
                <a:latin typeface="Calibri"/>
              </a:rPr>
              <a:t>A manometria de alta resolução (HRM)</a:t>
            </a:r>
            <a:r>
              <a:rPr sz="1600" b="0" i="0">
                <a:solidFill>
                  <a:srgbClr val="33424F"/>
                </a:solidFill>
                <a:latin typeface="Calibri"/>
              </a:rPr>
              <a:t> registra a pressão ao longo do esôfago durante a deglutição e a converte numa </a:t>
            </a:r>
            <a:r>
              <a:rPr sz="1600" b="0" i="1">
                <a:solidFill>
                  <a:srgbClr val="33424F"/>
                </a:solidFill>
                <a:latin typeface="Calibri"/>
              </a:rPr>
              <a:t>topografia de pressão</a:t>
            </a:r>
            <a:r>
              <a:rPr sz="1600" b="0" i="0">
                <a:solidFill>
                  <a:srgbClr val="33424F"/>
                </a:solidFill>
                <a:latin typeface="Calibri"/>
              </a:rPr>
              <a:t> (o mapa de calor).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600" b="0" i="0">
                <a:solidFill>
                  <a:srgbClr val="33424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33424F"/>
                </a:solidFill>
                <a:latin typeface="Calibri"/>
              </a:rPr>
              <a:t>O diagnóstico depende de </a:t>
            </a:r>
            <a:r>
              <a:rPr sz="1600" b="1" i="0">
                <a:solidFill>
                  <a:srgbClr val="E2661A"/>
                </a:solidFill>
                <a:latin typeface="Calibri"/>
              </a:rPr>
              <a:t>como as regiões se relacionam</a:t>
            </a:r>
            <a:r>
              <a:rPr sz="1600" b="0" i="0">
                <a:solidFill>
                  <a:srgbClr val="33424F"/>
                </a:solidFill>
                <a:latin typeface="Calibri"/>
              </a:rPr>
              <a:t>: a onda desce coordenada? o esfíncter relaxa na hora certa? a contração é forte demais?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600" b="0" i="0">
                <a:solidFill>
                  <a:srgbClr val="33424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33424F"/>
                </a:solidFill>
                <a:latin typeface="Calibri"/>
              </a:rPr>
              <a:t>Ler isso manualmente é lento e subjetivo — daí um modelo que </a:t>
            </a:r>
            <a:r>
              <a:rPr sz="1600" b="1" i="0">
                <a:solidFill>
                  <a:srgbClr val="1F8F9C"/>
                </a:solidFill>
                <a:latin typeface="Calibri"/>
              </a:rPr>
              <a:t>raciocina sobre regiões</a:t>
            </a:r>
            <a:r>
              <a:rPr sz="1600" b="0" i="0">
                <a:solidFill>
                  <a:srgbClr val="33424F"/>
                </a:solidFill>
                <a:latin typeface="Calibri"/>
              </a:rPr>
              <a:t>, não só sobre pixels.</a:t>
            </a:r>
          </a:p>
        </p:txBody>
      </p:sp>
      <p:pic>
        <p:nvPicPr>
          <p:cNvPr id="7" name="Picture 6" descr="01_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600200"/>
            <a:ext cx="402336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0" y="5678424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B7C8C"/>
                </a:solidFill>
                <a:latin typeface="Calibri"/>
              </a:rPr>
              <a:t>Topografia de pressão: Y = posição no esôfago · X = tempo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F8F9C"/>
                </a:solidFill>
                <a:latin typeface="Consolas"/>
              </a:rPr>
              <a:t>A IDEIA CENTRAL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42A3E"/>
                </a:solidFill>
                <a:latin typeface="Calibri"/>
              </a:rPr>
              <a:t>Por que um grafo?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60350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33424F"/>
                </a:solidFill>
                <a:latin typeface="Calibri"/>
              </a:rPr>
              <a:t>Uma CNN comum decide olhando o mapa inteiro de uma vez.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500" b="0" i="0">
                <a:solidFill>
                  <a:srgbClr val="33424F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33424F"/>
                </a:solidFill>
                <a:latin typeface="Calibri"/>
              </a:rPr>
              <a:t>O CVP-GAT primeiro reduz a imagem a </a:t>
            </a:r>
            <a:r>
              <a:rPr sz="1600" b="1" i="0">
                <a:solidFill>
                  <a:srgbClr val="E2661A"/>
                </a:solidFill>
                <a:latin typeface="Calibri"/>
              </a:rPr>
              <a:t>6 regiões empilhadas</a:t>
            </a:r>
            <a:r>
              <a:rPr sz="1600" b="0" i="0">
                <a:solidFill>
                  <a:srgbClr val="33424F"/>
                </a:solidFill>
                <a:latin typeface="Calibri"/>
              </a:rPr>
              <a:t> de cima para baixo — as ‘regiões de vigor’ da deglutição — e deixa essas regiões </a:t>
            </a:r>
            <a:r>
              <a:rPr sz="1600" b="1" i="0">
                <a:solidFill>
                  <a:srgbClr val="1F8F9C"/>
                </a:solidFill>
                <a:latin typeface="Calibri"/>
              </a:rPr>
              <a:t>conversarem entre si</a:t>
            </a:r>
            <a:r>
              <a:rPr sz="1600" b="0" i="0">
                <a:solidFill>
                  <a:srgbClr val="33424F"/>
                </a:solidFill>
                <a:latin typeface="Calibri"/>
              </a:rPr>
              <a:t> por atenção antes de decidir.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500" b="0" i="0">
                <a:solidFill>
                  <a:srgbClr val="33424F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6B7C8C"/>
                </a:solidFill>
                <a:latin typeface="Calibri"/>
              </a:rPr>
              <a:t>As 6 regiões (Wang, Fig. 1): </a:t>
            </a:r>
            <a:r>
              <a:rPr sz="1400" b="0" i="0">
                <a:solidFill>
                  <a:srgbClr val="6B7C8C"/>
                </a:solidFill>
                <a:latin typeface="Calibri"/>
              </a:rPr>
              <a:t>UES → estriado → zona de transição → liso → relaxamento do EEI → fechamento do EEI.</a:t>
            </a:r>
          </a:p>
        </p:txBody>
      </p:sp>
      <p:pic>
        <p:nvPicPr>
          <p:cNvPr id="7" name="Picture 6" descr="04_node_b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554480"/>
            <a:ext cx="4480560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40880" y="6089904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B7C8C"/>
                </a:solidFill>
                <a:latin typeface="Calibri"/>
              </a:rPr>
              <a:t>Os 6 nós = 6 faixas horizontais da imagem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F8F9C"/>
                </a:solidFill>
                <a:latin typeface="Consolas"/>
              </a:rPr>
              <a:t>VISÃO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42A3E"/>
                </a:solidFill>
                <a:latin typeface="Calibri"/>
              </a:rPr>
              <a:t>Pipeline de ponta a ponta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94560"/>
            <a:ext cx="1378523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C"/>
            </a:solidFill>
          </a:ln>
          <a:effectLst/>
          <a:effectLst>
            <a:outerShdw blurRad="60000" dist="25000" dir="5400000" rotWithShape="0">
              <a:srgbClr val="8A7A6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194560"/>
            <a:ext cx="1378523" cy="118872"/>
          </a:xfrm>
          <a:prstGeom prst="rect">
            <a:avLst/>
          </a:prstGeom>
          <a:solidFill>
            <a:srgbClr val="1F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2450591"/>
            <a:ext cx="123221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F8F9C"/>
                </a:solidFill>
                <a:latin typeface="Consolas"/>
              </a:rPr>
              <a:t>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42A3E"/>
                </a:solidFill>
                <a:latin typeface="Calibri"/>
              </a:rPr>
              <a:t>Entrada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1">
                <a:solidFill>
                  <a:srgbClr val="6B7C8C"/>
                </a:solidFill>
                <a:latin typeface="Calibri"/>
              </a:rPr>
              <a:t>imagem RGB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" y="3840479"/>
            <a:ext cx="1268795" cy="365760"/>
          </a:xfrm>
          <a:prstGeom prst="roundRect">
            <a:avLst/>
          </a:prstGeom>
          <a:solidFill>
            <a:srgbClr val="ED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" y="3877055"/>
            <a:ext cx="1268795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33424F"/>
                </a:solidFill>
                <a:latin typeface="Consolas"/>
              </a:rPr>
              <a:t>B×3×224×224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863155" y="3145536"/>
            <a:ext cx="292608" cy="201168"/>
          </a:xfrm>
          <a:prstGeom prst="rightArrow">
            <a:avLst/>
          </a:prstGeom>
          <a:solidFill>
            <a:srgbClr val="C7B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37475" y="2194560"/>
            <a:ext cx="1378523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C"/>
            </a:solidFill>
          </a:ln>
          <a:effectLst/>
          <a:effectLst>
            <a:outerShdw blurRad="60000" dist="25000" dir="5400000" rotWithShape="0">
              <a:srgbClr val="8A7A6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37475" y="2194560"/>
            <a:ext cx="1378523" cy="118872"/>
          </a:xfrm>
          <a:prstGeom prst="rect">
            <a:avLst/>
          </a:prstGeom>
          <a:solidFill>
            <a:srgbClr val="1F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10627" y="2450591"/>
            <a:ext cx="123221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F8F9C"/>
                </a:solidFill>
                <a:latin typeface="Consolas"/>
              </a:rPr>
              <a:t>2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42A3E"/>
                </a:solidFill>
                <a:latin typeface="Calibri"/>
              </a:rPr>
              <a:t>Encoder CNN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1">
                <a:solidFill>
                  <a:srgbClr val="6B7C8C"/>
                </a:solidFill>
                <a:latin typeface="Calibri"/>
              </a:rPr>
              <a:t>ResNet18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92339" y="3840479"/>
            <a:ext cx="1268795" cy="365760"/>
          </a:xfrm>
          <a:prstGeom prst="roundRect">
            <a:avLst/>
          </a:prstGeom>
          <a:solidFill>
            <a:srgbClr val="ED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2339" y="3877055"/>
            <a:ext cx="1268795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33424F"/>
                </a:solidFill>
                <a:latin typeface="Consolas"/>
              </a:rPr>
              <a:t>B×512×7×7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497710" y="3145536"/>
            <a:ext cx="292608" cy="201168"/>
          </a:xfrm>
          <a:prstGeom prst="rightArrow">
            <a:avLst/>
          </a:prstGeom>
          <a:solidFill>
            <a:srgbClr val="C7B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772030" y="2194560"/>
            <a:ext cx="1378523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C"/>
            </a:solidFill>
          </a:ln>
          <a:effectLst/>
          <a:effectLst>
            <a:outerShdw blurRad="60000" dist="25000" dir="5400000" rotWithShape="0">
              <a:srgbClr val="8A7A6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72030" y="2194560"/>
            <a:ext cx="1378523" cy="118872"/>
          </a:xfrm>
          <a:prstGeom prst="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5182" y="2450591"/>
            <a:ext cx="123221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E2661A"/>
                </a:solidFill>
                <a:latin typeface="Consolas"/>
              </a:rPr>
              <a:t>3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42A3E"/>
                </a:solidFill>
                <a:latin typeface="Calibri"/>
              </a:rPr>
              <a:t>Pooling→nós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1">
                <a:solidFill>
                  <a:srgbClr val="6B7C8C"/>
                </a:solidFill>
                <a:latin typeface="Calibri"/>
              </a:rPr>
              <a:t>AdaptiveAvgPool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26894" y="3840479"/>
            <a:ext cx="1268795" cy="365760"/>
          </a:xfrm>
          <a:prstGeom prst="roundRect">
            <a:avLst/>
          </a:prstGeom>
          <a:solidFill>
            <a:srgbClr val="ED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26894" y="3877055"/>
            <a:ext cx="1268795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33424F"/>
                </a:solidFill>
                <a:latin typeface="Consolas"/>
              </a:rPr>
              <a:t>B×512×6×8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132265" y="3145536"/>
            <a:ext cx="292608" cy="201168"/>
          </a:xfrm>
          <a:prstGeom prst="rightArrow">
            <a:avLst/>
          </a:prstGeom>
          <a:solidFill>
            <a:srgbClr val="C7B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06585" y="2194560"/>
            <a:ext cx="1378523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C"/>
            </a:solidFill>
          </a:ln>
          <a:effectLst/>
          <a:effectLst>
            <a:outerShdw blurRad="60000" dist="25000" dir="5400000" rotWithShape="0">
              <a:srgbClr val="8A7A6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06585" y="2194560"/>
            <a:ext cx="1378523" cy="118872"/>
          </a:xfrm>
          <a:prstGeom prst="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79737" y="2450591"/>
            <a:ext cx="123221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E2661A"/>
                </a:solidFill>
                <a:latin typeface="Consolas"/>
              </a:rPr>
              <a:t>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42A3E"/>
                </a:solidFill>
                <a:latin typeface="Calibri"/>
              </a:rPr>
              <a:t>Projeção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1">
                <a:solidFill>
                  <a:srgbClr val="6B7C8C"/>
                </a:solidFill>
                <a:latin typeface="Calibri"/>
              </a:rPr>
              <a:t>Linear+posição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61449" y="3840479"/>
            <a:ext cx="1268795" cy="365760"/>
          </a:xfrm>
          <a:prstGeom prst="roundRect">
            <a:avLst/>
          </a:prstGeom>
          <a:solidFill>
            <a:srgbClr val="ED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61449" y="3877055"/>
            <a:ext cx="1268795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33424F"/>
                </a:solidFill>
                <a:latin typeface="Consolas"/>
              </a:rPr>
              <a:t>B×6×256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6766821" y="3145536"/>
            <a:ext cx="292608" cy="201168"/>
          </a:xfrm>
          <a:prstGeom prst="rightArrow">
            <a:avLst/>
          </a:prstGeom>
          <a:solidFill>
            <a:srgbClr val="C7B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041141" y="2194560"/>
            <a:ext cx="1378523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C"/>
            </a:solidFill>
          </a:ln>
          <a:effectLst/>
          <a:effectLst>
            <a:outerShdw blurRad="60000" dist="25000" dir="5400000" rotWithShape="0">
              <a:srgbClr val="8A7A6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41141" y="2194560"/>
            <a:ext cx="1378523" cy="118872"/>
          </a:xfrm>
          <a:prstGeom prst="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14293" y="2450591"/>
            <a:ext cx="123221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E2661A"/>
                </a:solidFill>
                <a:latin typeface="Consolas"/>
              </a:rPr>
              <a:t>5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42A3E"/>
                </a:solidFill>
                <a:latin typeface="Calibri"/>
              </a:rPr>
              <a:t>2× GAT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1">
                <a:solidFill>
                  <a:srgbClr val="6B7C8C"/>
                </a:solidFill>
                <a:latin typeface="Calibri"/>
              </a:rPr>
              <a:t>atenção esparsa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96005" y="3840479"/>
            <a:ext cx="1268795" cy="365760"/>
          </a:xfrm>
          <a:prstGeom prst="roundRect">
            <a:avLst/>
          </a:prstGeom>
          <a:solidFill>
            <a:srgbClr val="ED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96005" y="3877055"/>
            <a:ext cx="1268795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33424F"/>
                </a:solidFill>
                <a:latin typeface="Consolas"/>
              </a:rPr>
              <a:t>B×6×256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8401376" y="3145536"/>
            <a:ext cx="292608" cy="201168"/>
          </a:xfrm>
          <a:prstGeom prst="rightArrow">
            <a:avLst/>
          </a:prstGeom>
          <a:solidFill>
            <a:srgbClr val="C7B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675696" y="2194560"/>
            <a:ext cx="1378523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C"/>
            </a:solidFill>
          </a:ln>
          <a:effectLst/>
          <a:effectLst>
            <a:outerShdw blurRad="60000" dist="25000" dir="5400000" rotWithShape="0">
              <a:srgbClr val="8A7A6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75696" y="2194560"/>
            <a:ext cx="1378523" cy="118872"/>
          </a:xfrm>
          <a:prstGeom prst="rect">
            <a:avLst/>
          </a:prstGeom>
          <a:solidFill>
            <a:srgbClr val="1F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48848" y="2450591"/>
            <a:ext cx="123221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F8F9C"/>
                </a:solidFill>
                <a:latin typeface="Consolas"/>
              </a:rPr>
              <a:t>6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42A3E"/>
                </a:solidFill>
                <a:latin typeface="Calibri"/>
              </a:rPr>
              <a:t>Readout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1">
                <a:solidFill>
                  <a:srgbClr val="6B7C8C"/>
                </a:solidFill>
                <a:latin typeface="Calibri"/>
              </a:rPr>
              <a:t>atenção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30560" y="3840479"/>
            <a:ext cx="1268795" cy="365760"/>
          </a:xfrm>
          <a:prstGeom prst="roundRect">
            <a:avLst/>
          </a:prstGeom>
          <a:solidFill>
            <a:srgbClr val="ED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30560" y="3877055"/>
            <a:ext cx="1268795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33424F"/>
                </a:solidFill>
                <a:latin typeface="Consolas"/>
              </a:rPr>
              <a:t>B×256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10035931" y="3145536"/>
            <a:ext cx="292608" cy="201168"/>
          </a:xfrm>
          <a:prstGeom prst="rightArrow">
            <a:avLst/>
          </a:prstGeom>
          <a:solidFill>
            <a:srgbClr val="C7B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310251" y="2194560"/>
            <a:ext cx="1378523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C"/>
            </a:solidFill>
          </a:ln>
          <a:effectLst/>
          <a:effectLst>
            <a:outerShdw blurRad="60000" dist="25000" dir="5400000" rotWithShape="0">
              <a:srgbClr val="8A7A6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310251" y="2194560"/>
            <a:ext cx="1378523" cy="118872"/>
          </a:xfrm>
          <a:prstGeom prst="rect">
            <a:avLst/>
          </a:prstGeom>
          <a:solidFill>
            <a:srgbClr val="2E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383403" y="2450591"/>
            <a:ext cx="123221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2EA06A"/>
                </a:solidFill>
                <a:latin typeface="Consolas"/>
              </a:rPr>
              <a:t>7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42A3E"/>
                </a:solidFill>
                <a:latin typeface="Calibri"/>
              </a:rPr>
              <a:t>Classificador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1">
                <a:solidFill>
                  <a:srgbClr val="6B7C8C"/>
                </a:solidFill>
                <a:latin typeface="Calibri"/>
              </a:rPr>
              <a:t>Linear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365115" y="3840479"/>
            <a:ext cx="1268795" cy="365760"/>
          </a:xfrm>
          <a:prstGeom prst="roundRect">
            <a:avLst/>
          </a:prstGeom>
          <a:solidFill>
            <a:srgbClr val="ED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65115" y="3877055"/>
            <a:ext cx="1268795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33424F"/>
                </a:solidFill>
                <a:latin typeface="Consolas"/>
              </a:rPr>
              <a:t>B×6 classes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489204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424F"/>
                </a:solidFill>
                <a:latin typeface="Calibri"/>
              </a:rPr>
              <a:t>Cada caixa é uma transformação de tensor no </a:t>
            </a:r>
            <a:r>
              <a:rPr sz="1400" b="0" i="0">
                <a:solidFill>
                  <a:srgbClr val="33424F"/>
                </a:solidFill>
                <a:latin typeface="Consolas"/>
              </a:rPr>
              <a:t>forward</a:t>
            </a:r>
            <a:r>
              <a:rPr sz="1400" b="0" i="0">
                <a:solidFill>
                  <a:srgbClr val="33424F"/>
                </a:solidFill>
                <a:latin typeface="Calibri"/>
              </a:rPr>
              <a:t> de WangCVPGAT (graph_model.py, linhas 196–209). </a:t>
            </a:r>
            <a:r>
              <a:rPr sz="1400" b="0" i="0">
                <a:solidFill>
                  <a:srgbClr val="33424F"/>
                </a:solidFill>
                <a:latin typeface="Consolas"/>
              </a:rPr>
              <a:t>B</a:t>
            </a:r>
            <a:r>
              <a:rPr sz="1400" b="0" i="0">
                <a:solidFill>
                  <a:srgbClr val="33424F"/>
                </a:solidFill>
                <a:latin typeface="Calibri"/>
              </a:rPr>
              <a:t> = batch.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6B7C8C"/>
                </a:solidFill>
                <a:latin typeface="Calibri"/>
              </a:rPr>
              <a:t>Núcleo do método → estágios 3 a 6: a imagem vira grafo, os nós trocam informação e uma atenção resume tudo.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F8F9C"/>
                </a:solidFill>
                <a:latin typeface="Consolas"/>
              </a:rPr>
              <a:t>ESTÁGIOS 1–2 · IMAGEM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42A3E"/>
                </a:solidFill>
                <a:latin typeface="Calibri"/>
              </a:rPr>
              <a:t>A CNN encontra onde está a pressão</a:t>
            </a:r>
          </a:p>
        </p:txBody>
      </p:sp>
      <p:pic>
        <p:nvPicPr>
          <p:cNvPr id="6" name="Picture 5" descr="02_featur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4937760" cy="39502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605272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B7C8C"/>
                </a:solidFill>
                <a:latin typeface="Calibri"/>
              </a:rPr>
              <a:t>Mapa de features ResNet18 (7×7, média dos 512 canais)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828800"/>
            <a:ext cx="55778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C"/>
            </a:solidFill>
          </a:ln>
          <a:effectLst/>
          <a:effectLst>
            <a:outerShdw blurRad="60000" dist="25000" dir="5400000" rotWithShape="0">
              <a:srgbClr val="8A7A6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48840"/>
            <a:ext cx="48463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F8F9C"/>
                </a:solidFill>
                <a:latin typeface="Consolas"/>
              </a:rPr>
              <a:t>B×3×224²  →  B×512×7×7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 i="0">
                <a:solidFill>
                  <a:srgbClr val="33424F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33424F"/>
                </a:solidFill>
                <a:latin typeface="Calibri"/>
              </a:rPr>
              <a:t>As camadas convolucionais da ResNet transformam pixels em 512 ‘detectores de padrão’ numa grade 7×7.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 i="0">
                <a:solidFill>
                  <a:srgbClr val="33424F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33424F"/>
                </a:solidFill>
                <a:latin typeface="Calibri"/>
              </a:rPr>
              <a:t>A ativação acende </a:t>
            </a:r>
            <a:r>
              <a:rPr sz="1500" b="1" i="0">
                <a:solidFill>
                  <a:srgbClr val="E2661A"/>
                </a:solidFill>
                <a:latin typeface="Calibri"/>
              </a:rPr>
              <a:t>exatamente sobre a banda de pressão alta</a:t>
            </a:r>
            <a:r>
              <a:rPr sz="1500" b="0" i="0">
                <a:solidFill>
                  <a:srgbClr val="33424F"/>
                </a:solidFill>
                <a:latin typeface="Calibri"/>
              </a:rPr>
              <a:t> — a CNN já achou o padrão relevante, mas ainda não sabe o que ele significa.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F8F9C"/>
                </a:solidFill>
                <a:latin typeface="Consolas"/>
              </a:rPr>
              <a:t>ESTÁGIO 3 · IMAGEM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42A3E"/>
                </a:solidFill>
                <a:latin typeface="Calibri"/>
              </a:rPr>
              <a:t>A grade vira 6 nós × 8 bins de tempo</a:t>
            </a:r>
          </a:p>
        </p:txBody>
      </p:sp>
      <p:pic>
        <p:nvPicPr>
          <p:cNvPr id="6" name="Picture 5" descr="03_node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5760720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632703"/>
            <a:ext cx="5760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B7C8C"/>
                </a:solidFill>
                <a:latin typeface="Calibri"/>
              </a:rPr>
              <a:t>Cada linha é um nó; o nó do meio acende no tempo central (assinatura do Jackhammer)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828800"/>
            <a:ext cx="50292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C"/>
            </a:solidFill>
          </a:ln>
          <a:effectLst/>
          <a:effectLst>
            <a:outerShdw blurRad="60000" dist="25000" dir="5400000" rotWithShape="0">
              <a:srgbClr val="8A7A6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3720" y="2148840"/>
            <a:ext cx="43891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2661A"/>
                </a:solidFill>
                <a:latin typeface="Consolas"/>
              </a:rPr>
              <a:t>B×512×7×7  →  B×512×6×8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500" b="0" i="0">
                <a:solidFill>
                  <a:srgbClr val="33424F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424F"/>
                </a:solidFill>
                <a:latin typeface="Consolas"/>
              </a:rPr>
              <a:t>AdaptiveAvgPool2d((6, 8))</a:t>
            </a:r>
            <a:r>
              <a:rPr sz="1450" b="0" i="0">
                <a:solidFill>
                  <a:srgbClr val="33424F"/>
                </a:solidFill>
                <a:latin typeface="Calibri"/>
              </a:rPr>
              <a:t> força a altura a 6 (os nós) e a largura a 8 (bins de tempo).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500" b="0" i="0">
                <a:solidFill>
                  <a:srgbClr val="33424F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33424F"/>
                </a:solidFill>
                <a:latin typeface="Calibri"/>
              </a:rPr>
              <a:t>Cada nó vira um vetor de 512×8 = 4096, depois projetado para 256 dims + posição aprendida da faixa.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F8F9C"/>
                </a:solidFill>
                <a:latin typeface="Consolas"/>
              </a:rPr>
              <a:t>A PERGUNTA CENTRAL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42A3E"/>
                </a:solidFill>
                <a:latin typeface="Calibri"/>
              </a:rPr>
              <a:t>O que são os nós e as arestas?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28800" y="2130552"/>
            <a:ext cx="0" cy="402335"/>
          </a:xfrm>
          <a:prstGeom prst="bentConnector3">
            <a:avLst/>
          </a:prstGeom>
          <a:ln w="31750">
            <a:solidFill>
              <a:srgbClr val="E266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828800" y="2788920"/>
            <a:ext cx="0" cy="402336"/>
          </a:xfrm>
          <a:prstGeom prst="bentConnector3">
            <a:avLst/>
          </a:prstGeom>
          <a:ln w="31750">
            <a:solidFill>
              <a:srgbClr val="E266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28800" y="3447287"/>
            <a:ext cx="0" cy="402337"/>
          </a:xfrm>
          <a:prstGeom prst="bentConnector3">
            <a:avLst/>
          </a:prstGeom>
          <a:ln w="31750">
            <a:solidFill>
              <a:srgbClr val="E266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28800" y="4105656"/>
            <a:ext cx="0" cy="402336"/>
          </a:xfrm>
          <a:prstGeom prst="bentConnector3">
            <a:avLst/>
          </a:prstGeom>
          <a:ln w="31750">
            <a:solidFill>
              <a:srgbClr val="E266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28800" y="4764024"/>
            <a:ext cx="0" cy="402335"/>
          </a:xfrm>
          <a:prstGeom prst="bentConnector3">
            <a:avLst/>
          </a:prstGeom>
          <a:ln w="31750">
            <a:solidFill>
              <a:srgbClr val="E266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572768" y="1874519"/>
            <a:ext cx="512064" cy="512064"/>
          </a:xfrm>
          <a:prstGeom prst="ellipse">
            <a:avLst/>
          </a:prstGeom>
          <a:solidFill>
            <a:srgbClr val="1F8F9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1856231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B7C8C"/>
                </a:solidFill>
                <a:latin typeface="Calibri"/>
              </a:rPr>
              <a:t>proximal (UES)</a:t>
            </a:r>
          </a:p>
        </p:txBody>
      </p:sp>
      <p:sp>
        <p:nvSpPr>
          <p:cNvPr id="13" name="Oval 12"/>
          <p:cNvSpPr/>
          <p:nvPr/>
        </p:nvSpPr>
        <p:spPr>
          <a:xfrm>
            <a:off x="1572768" y="2532887"/>
            <a:ext cx="512064" cy="512064"/>
          </a:xfrm>
          <a:prstGeom prst="ellipse">
            <a:avLst/>
          </a:prstGeom>
          <a:solidFill>
            <a:srgbClr val="1F8F9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514599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B7C8C"/>
                </a:solidFill>
                <a:latin typeface="Calibri"/>
              </a:rPr>
              <a:t>estriado</a:t>
            </a:r>
          </a:p>
        </p:txBody>
      </p:sp>
      <p:sp>
        <p:nvSpPr>
          <p:cNvPr id="15" name="Oval 14"/>
          <p:cNvSpPr/>
          <p:nvPr/>
        </p:nvSpPr>
        <p:spPr>
          <a:xfrm>
            <a:off x="1572768" y="3191256"/>
            <a:ext cx="512064" cy="512064"/>
          </a:xfrm>
          <a:prstGeom prst="ellipse">
            <a:avLst/>
          </a:prstGeom>
          <a:solidFill>
            <a:srgbClr val="E2661A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3172968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B7C8C"/>
                </a:solidFill>
                <a:latin typeface="Calibri"/>
              </a:rPr>
              <a:t>transição</a:t>
            </a:r>
          </a:p>
        </p:txBody>
      </p:sp>
      <p:sp>
        <p:nvSpPr>
          <p:cNvPr id="17" name="Oval 16"/>
          <p:cNvSpPr/>
          <p:nvPr/>
        </p:nvSpPr>
        <p:spPr>
          <a:xfrm>
            <a:off x="1572768" y="3849624"/>
            <a:ext cx="512064" cy="512064"/>
          </a:xfrm>
          <a:prstGeom prst="ellipse">
            <a:avLst/>
          </a:prstGeom>
          <a:solidFill>
            <a:srgbClr val="E2661A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3831336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B7C8C"/>
                </a:solidFill>
                <a:latin typeface="Calibri"/>
              </a:rPr>
              <a:t>liso</a:t>
            </a:r>
          </a:p>
        </p:txBody>
      </p:sp>
      <p:sp>
        <p:nvSpPr>
          <p:cNvPr id="19" name="Oval 18"/>
          <p:cNvSpPr/>
          <p:nvPr/>
        </p:nvSpPr>
        <p:spPr>
          <a:xfrm>
            <a:off x="1572768" y="4507992"/>
            <a:ext cx="512064" cy="512064"/>
          </a:xfrm>
          <a:prstGeom prst="ellipse">
            <a:avLst/>
          </a:prstGeom>
          <a:solidFill>
            <a:srgbClr val="2EA06A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4489704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B7C8C"/>
                </a:solidFill>
                <a:latin typeface="Calibri"/>
              </a:rPr>
              <a:t>EEI relax.</a:t>
            </a:r>
          </a:p>
        </p:txBody>
      </p:sp>
      <p:sp>
        <p:nvSpPr>
          <p:cNvPr id="21" name="Oval 20"/>
          <p:cNvSpPr/>
          <p:nvPr/>
        </p:nvSpPr>
        <p:spPr>
          <a:xfrm>
            <a:off x="1572768" y="5166359"/>
            <a:ext cx="512064" cy="512064"/>
          </a:xfrm>
          <a:prstGeom prst="ellipse">
            <a:avLst/>
          </a:prstGeom>
          <a:solidFill>
            <a:srgbClr val="2EA06A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5148072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B7C8C"/>
                </a:solidFill>
                <a:latin typeface="Calibri"/>
              </a:rPr>
              <a:t>EEI fecha.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1691640"/>
            <a:ext cx="3566160" cy="187451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8F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1874519"/>
            <a:ext cx="31546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1F8F9C"/>
                </a:solidFill>
                <a:latin typeface="Consolas"/>
              </a:rPr>
              <a:t>NÓ</a:t>
            </a:r>
            <a:r>
              <a:rPr sz="1500" b="1" i="0">
                <a:solidFill>
                  <a:srgbClr val="142A3E"/>
                </a:solidFill>
                <a:latin typeface="Calibri"/>
              </a:rPr>
              <a:t>  =  uma faixa do esôfago, resumida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33424F"/>
                </a:solidFill>
                <a:latin typeface="Calibri"/>
              </a:rPr>
              <a:t>Uma das 6 regiões anatômicas (proximal → EEI), cada uma virando um vetor de 256 números.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3794760"/>
            <a:ext cx="713232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6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9160" y="3977639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E2661A"/>
                </a:solidFill>
                <a:latin typeface="Consolas"/>
              </a:rPr>
              <a:t>ARESTA</a:t>
            </a:r>
            <a:r>
              <a:rPr sz="1500" b="1" i="0">
                <a:solidFill>
                  <a:srgbClr val="142A3E"/>
                </a:solidFill>
                <a:latin typeface="Calibri"/>
              </a:rPr>
              <a:t>  =  quanto um nó presta atenção em outro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33424F"/>
                </a:solidFill>
                <a:latin typeface="Calibri"/>
              </a:rPr>
              <a:t>Não há lista fixa: as arestas são os pesos de atenção, calculados por imagem. O </a:t>
            </a:r>
            <a:r>
              <a:rPr sz="1400" b="0" i="0">
                <a:solidFill>
                  <a:srgbClr val="33424F"/>
                </a:solidFill>
                <a:latin typeface="Consolas"/>
              </a:rPr>
              <a:t>graph_radius=2</a:t>
            </a:r>
            <a:r>
              <a:rPr sz="1400" b="0" i="0">
                <a:solidFill>
                  <a:srgbClr val="33424F"/>
                </a:solidFill>
                <a:latin typeface="Calibri"/>
              </a:rPr>
              <a:t> só permite aresta entre faixas a até ±2 de distância — o resto é zerado.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1">
                <a:solidFill>
                  <a:srgbClr val="6B7C8C"/>
                </a:solidFill>
                <a:latin typeface="Calibri"/>
              </a:rPr>
              <a:t>Espelha a fisiologia: a deglutição é uma onda que se propaga de faixa em faixa.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9893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6B7C8C"/>
                </a:solidFill>
                <a:latin typeface="Calibri"/>
              </a:rPr>
              <a:t>Dois sinais reforçam a intuição de grafo (linhas 59–68): </a:t>
            </a:r>
            <a:r>
              <a:rPr sz="1300" b="1" i="0">
                <a:solidFill>
                  <a:srgbClr val="1F8F9C"/>
                </a:solidFill>
                <a:latin typeface="Calibri"/>
              </a:rPr>
              <a:t>correlação de representação</a:t>
            </a:r>
            <a:r>
              <a:rPr sz="1300" b="0" i="0">
                <a:solidFill>
                  <a:srgbClr val="6B7C8C"/>
                </a:solidFill>
                <a:latin typeface="Calibri"/>
              </a:rPr>
              <a:t> (nós parecidos → aresta forte) e </a:t>
            </a:r>
            <a:r>
              <a:rPr sz="1300" b="1" i="0">
                <a:solidFill>
                  <a:srgbClr val="E2661A"/>
                </a:solidFill>
                <a:latin typeface="Calibri"/>
              </a:rPr>
              <a:t>viés de posição relativa</a:t>
            </a:r>
            <a:r>
              <a:rPr sz="1300" b="0" i="0">
                <a:solidFill>
                  <a:srgbClr val="6B7C8C"/>
                </a:solidFill>
                <a:latin typeface="Calibri"/>
              </a:rPr>
              <a:t> (bias aprendido por distância entre faixas).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F8F9C"/>
                </a:solidFill>
                <a:latin typeface="Consolas"/>
              </a:rPr>
              <a:t>AS ARESTAS EM AÇÃO · IMAGEM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42A3E"/>
                </a:solidFill>
                <a:latin typeface="Calibri"/>
              </a:rPr>
              <a:t>A conectividade esparsa, tornada visível</a:t>
            </a:r>
          </a:p>
        </p:txBody>
      </p:sp>
      <p:pic>
        <p:nvPicPr>
          <p:cNvPr id="6" name="Picture 5" descr="05_attention_ed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7589520" cy="318759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03920" y="1828800"/>
            <a:ext cx="3108960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C"/>
            </a:solidFill>
          </a:ln>
          <a:effectLst/>
          <a:effectLst>
            <a:outerShdw blurRad="60000" dist="25000" dir="5400000" rotWithShape="0">
              <a:srgbClr val="8A7A6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2103120"/>
            <a:ext cx="26060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33424F"/>
                </a:solidFill>
                <a:latin typeface="Calibri"/>
              </a:rPr>
              <a:t>Cada matriz = uma camada GAT (média das 4 cabeças).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500" b="0" i="0">
                <a:solidFill>
                  <a:srgbClr val="33424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2A3E"/>
                </a:solidFill>
                <a:latin typeface="Calibri"/>
              </a:rPr>
              <a:t>Linha</a:t>
            </a:r>
            <a:r>
              <a:rPr sz="1400" b="0" i="0">
                <a:solidFill>
                  <a:srgbClr val="33424F"/>
                </a:solidFill>
                <a:latin typeface="Calibri"/>
              </a:rPr>
              <a:t> = nó que recebe · </a:t>
            </a:r>
            <a:r>
              <a:rPr sz="1400" b="1" i="0">
                <a:solidFill>
                  <a:srgbClr val="142A3E"/>
                </a:solidFill>
                <a:latin typeface="Calibri"/>
              </a:rPr>
              <a:t>coluna</a:t>
            </a:r>
            <a:r>
              <a:rPr sz="1400" b="0" i="0">
                <a:solidFill>
                  <a:srgbClr val="33424F"/>
                </a:solidFill>
                <a:latin typeface="Calibri"/>
              </a:rPr>
              <a:t> = nó que envia.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500" b="0" i="0">
                <a:solidFill>
                  <a:srgbClr val="33424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33424F"/>
                </a:solidFill>
                <a:latin typeface="Calibri"/>
              </a:rPr>
              <a:t>A </a:t>
            </a:r>
            <a:r>
              <a:rPr sz="1400" b="1" i="0">
                <a:solidFill>
                  <a:srgbClr val="E2661A"/>
                </a:solidFill>
                <a:latin typeface="Calibri"/>
              </a:rPr>
              <a:t>faixa diagonal</a:t>
            </a:r>
            <a:r>
              <a:rPr sz="1400" b="0" i="0">
                <a:solidFill>
                  <a:srgbClr val="33424F"/>
                </a:solidFill>
                <a:latin typeface="Calibri"/>
              </a:rPr>
              <a:t> é a assinatura do radius=2: cada nó só troca com vizinhos próximos. O preto são </a:t>
            </a:r>
            <a:r>
              <a:rPr sz="1400" b="0" i="0">
                <a:solidFill>
                  <a:srgbClr val="33424F"/>
                </a:solidFill>
                <a:latin typeface="Calibri"/>
              </a:rPr>
              <a:t>arestas inexistentes.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F8F9C"/>
                </a:solidFill>
                <a:latin typeface="Consolas"/>
              </a:rPr>
              <a:t>ESTÁGIOS 6–7 · IMAGEM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42A3E"/>
                </a:solidFill>
                <a:latin typeface="Calibri"/>
              </a:rPr>
              <a:t>Uma atenção resume os 6 nós e decide</a:t>
            </a:r>
          </a:p>
        </p:txBody>
      </p:sp>
      <p:pic>
        <p:nvPicPr>
          <p:cNvPr id="6" name="Picture 5" descr="06_read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6035040" cy="3520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040880" y="1828800"/>
            <a:ext cx="45720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C"/>
            </a:solidFill>
          </a:ln>
          <a:effectLst/>
          <a:effectLst>
            <a:outerShdw blurRad="60000" dist="25000" dir="5400000" rotWithShape="0">
              <a:srgbClr val="8A7A6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2103120"/>
            <a:ext cx="39319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F8F9C"/>
                </a:solidFill>
                <a:latin typeface="Consolas"/>
              </a:rPr>
              <a:t>B×6×256  →  B×256  →  6 classes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500" b="0" i="0">
                <a:solidFill>
                  <a:srgbClr val="33424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33424F"/>
                </a:solidFill>
                <a:latin typeface="Calibri"/>
              </a:rPr>
              <a:t>Uma </a:t>
            </a:r>
            <a:r>
              <a:rPr sz="1500" b="1" i="0">
                <a:solidFill>
                  <a:srgbClr val="E2661A"/>
                </a:solidFill>
                <a:latin typeface="Calibri"/>
              </a:rPr>
              <a:t>query aprendida</a:t>
            </a:r>
            <a:r>
              <a:rPr sz="1500" b="0" i="0">
                <a:solidFill>
                  <a:srgbClr val="33424F"/>
                </a:solidFill>
                <a:latin typeface="Calibri"/>
              </a:rPr>
              <a:t> (readout_query) pondera os 6 nós e soma tudo num único vetor da deglutição.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500" b="0" i="0">
                <a:solidFill>
                  <a:srgbClr val="33424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33424F"/>
                </a:solidFill>
                <a:latin typeface="Calibri"/>
              </a:rPr>
              <a:t>Nesta imagem de Jackhammer, ~100% do peso vai para o nó 2 → LayerNorm→Dropout→Linear → softmax.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2EA06A"/>
                </a:solidFill>
                <a:latin typeface="Calibri"/>
              </a:rPr>
              <a:t>Predição correta com probabilidade 1.00.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F8F9C"/>
                </a:solidFill>
                <a:latin typeface="Consolas"/>
              </a:rPr>
              <a:t>O PONTO CLÍNICO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42A3E"/>
                </a:solidFill>
                <a:latin typeface="Calibri"/>
              </a:rPr>
              <a:t>Como o grafo distingue os diagnósticos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33424F"/>
                </a:solidFill>
                <a:latin typeface="Calibri"/>
              </a:rPr>
              <a:t>Cada diagnóstico é um </a:t>
            </a:r>
            <a:r>
              <a:rPr sz="1500" b="1" i="0">
                <a:solidFill>
                  <a:srgbClr val="E2661A"/>
                </a:solidFill>
                <a:latin typeface="Calibri"/>
              </a:rPr>
              <a:t>padrão de relação entre regiões</a:t>
            </a:r>
            <a:r>
              <a:rPr sz="1500" b="0" i="0">
                <a:solidFill>
                  <a:srgbClr val="33424F"/>
                </a:solidFill>
                <a:latin typeface="Calibri"/>
              </a:rPr>
              <a:t> — exatamente o que as arestas capturam e um vetor global achataria.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2377440" cy="548640"/>
          </a:xfrm>
          <a:prstGeom prst="rect">
            <a:avLst/>
          </a:prstGeom>
          <a:solidFill>
            <a:srgbClr val="142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2148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Diagnóstico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2148840"/>
            <a:ext cx="5623560" cy="548640"/>
          </a:xfrm>
          <a:prstGeom prst="rect">
            <a:avLst/>
          </a:prstGeom>
          <a:solidFill>
            <a:srgbClr val="142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79" y="2148840"/>
            <a:ext cx="5394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Assinatura entre regiões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41080" y="2148840"/>
            <a:ext cx="2926080" cy="548640"/>
          </a:xfrm>
          <a:prstGeom prst="rect">
            <a:avLst/>
          </a:prstGeom>
          <a:solidFill>
            <a:srgbClr val="142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2148840"/>
            <a:ext cx="2697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Quem ‘conversa’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697480"/>
            <a:ext cx="23774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697480"/>
            <a:ext cx="2148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2661A"/>
                </a:solidFill>
                <a:latin typeface="Calibri"/>
              </a:rPr>
              <a:t>normal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2697480"/>
            <a:ext cx="56235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79" y="2697480"/>
            <a:ext cx="5394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424F"/>
                </a:solidFill>
                <a:latin typeface="Calibri"/>
              </a:rPr>
              <a:t>onda desce suave; EEI relaxa quando a onda chega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41080" y="2697480"/>
            <a:ext cx="2926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2697480"/>
            <a:ext cx="2697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424F"/>
                </a:solidFill>
                <a:latin typeface="Consolas"/>
              </a:rPr>
              <a:t>cadeia de nós adjacentes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246120"/>
            <a:ext cx="2377440" cy="548640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246120"/>
            <a:ext cx="2148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2661A"/>
                </a:solidFill>
                <a:latin typeface="Calibri"/>
              </a:rPr>
              <a:t>Jackhammer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3246120"/>
            <a:ext cx="5623560" cy="548640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54679" y="3246120"/>
            <a:ext cx="5394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424F"/>
                </a:solidFill>
                <a:latin typeface="Calibri"/>
              </a:rPr>
              <a:t>contração de amplitude extrema numa faixa distal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41080" y="3246120"/>
            <a:ext cx="2926080" cy="548640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3246120"/>
            <a:ext cx="2697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424F"/>
                </a:solidFill>
                <a:latin typeface="Consolas"/>
              </a:rPr>
              <a:t>nó distal ↔ vizinhos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794760"/>
            <a:ext cx="23774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794760"/>
            <a:ext cx="2148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2661A"/>
                </a:solidFill>
                <a:latin typeface="Calibri"/>
              </a:rPr>
              <a:t>DES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3794760"/>
            <a:ext cx="56235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54679" y="3794760"/>
            <a:ext cx="5394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424F"/>
                </a:solidFill>
                <a:latin typeface="Calibri"/>
              </a:rPr>
              <a:t>contrações prematuras / fora de fase entre faixas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41080" y="3794760"/>
            <a:ext cx="2926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0" y="3794760"/>
            <a:ext cx="2697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424F"/>
                </a:solidFill>
                <a:latin typeface="Consolas"/>
              </a:rPr>
              <a:t>faixas dessincronizadas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343400"/>
            <a:ext cx="2377440" cy="548640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343400"/>
            <a:ext cx="2148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2661A"/>
                </a:solidFill>
                <a:latin typeface="Calibri"/>
              </a:rPr>
              <a:t>EGJ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17520" y="4343400"/>
            <a:ext cx="5623560" cy="548640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54679" y="4343400"/>
            <a:ext cx="5394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424F"/>
                </a:solidFill>
                <a:latin typeface="Calibri"/>
              </a:rPr>
              <a:t>obstrução de saída: EEI não relaxa vs. corpo pressuriza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41080" y="4343400"/>
            <a:ext cx="2926080" cy="548640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78240" y="4343400"/>
            <a:ext cx="2697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424F"/>
                </a:solidFill>
                <a:latin typeface="Consolas"/>
              </a:rPr>
              <a:t>nó 5 (EEI) ↔ nó 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4892040"/>
            <a:ext cx="23774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4892040"/>
            <a:ext cx="2148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2661A"/>
                </a:solidFill>
                <a:latin typeface="Calibri"/>
              </a:rPr>
              <a:t>IEM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17520" y="4892040"/>
            <a:ext cx="56235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54679" y="4892040"/>
            <a:ext cx="5394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424F"/>
                </a:solidFill>
                <a:latin typeface="Calibri"/>
              </a:rPr>
              <a:t>peristalse fraca / ausente em várias faixas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41080" y="4892040"/>
            <a:ext cx="2926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0" y="4892040"/>
            <a:ext cx="2697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424F"/>
                </a:solidFill>
                <a:latin typeface="Consolas"/>
              </a:rPr>
              <a:t>nós fracos por todo o eixo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5440679"/>
            <a:ext cx="2377440" cy="548640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5440679"/>
            <a:ext cx="2148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2661A"/>
                </a:solidFill>
                <a:latin typeface="Calibri"/>
              </a:rPr>
              <a:t>Bradycardia II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17520" y="5440679"/>
            <a:ext cx="5623560" cy="548640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54679" y="5440679"/>
            <a:ext cx="5394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424F"/>
                </a:solidFill>
                <a:latin typeface="Calibri"/>
              </a:rPr>
              <a:t>condução temporal lenta ao longo das faixas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41080" y="5440679"/>
            <a:ext cx="2926080" cy="548640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78240" y="5440679"/>
            <a:ext cx="2697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424F"/>
                </a:solidFill>
                <a:latin typeface="Consolas"/>
              </a:rPr>
              <a:t>defasagem temporal entre nós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F8F9C"/>
                </a:solidFill>
                <a:latin typeface="Consolas"/>
              </a:rPr>
              <a:t>RESULTADO NO TESTE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42A3E"/>
                </a:solidFill>
                <a:latin typeface="Calibri"/>
              </a:rPr>
              <a:t>Desempenho do wang_cvp_gat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6060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C"/>
            </a:solidFill>
          </a:ln>
          <a:effectLst/>
          <a:effectLst>
            <a:outerShdw blurRad="60000" dist="25000" dir="5400000" rotWithShape="0">
              <a:srgbClr val="8A7A6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2606040" cy="118872"/>
          </a:xfrm>
          <a:prstGeom prst="rect">
            <a:avLst/>
          </a:prstGeom>
          <a:solidFill>
            <a:srgbClr val="2E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2606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2EA06A"/>
                </a:solidFill>
                <a:latin typeface="Consolas"/>
              </a:rPr>
              <a:t>97,2 %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5468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6B7C8C"/>
                </a:solidFill>
                <a:latin typeface="Calibri"/>
              </a:rPr>
              <a:t>acurácia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828800"/>
            <a:ext cx="26060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C"/>
            </a:solidFill>
          </a:ln>
          <a:effectLst/>
          <a:effectLst>
            <a:outerShdw blurRad="60000" dist="25000" dir="5400000" rotWithShape="0">
              <a:srgbClr val="8A7A6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6160" y="1828800"/>
            <a:ext cx="2606040" cy="118872"/>
          </a:xfrm>
          <a:prstGeom prst="rect">
            <a:avLst/>
          </a:prstGeom>
          <a:solidFill>
            <a:srgbClr val="2E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240280"/>
            <a:ext cx="2606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2EA06A"/>
                </a:solidFill>
                <a:latin typeface="Consolas"/>
              </a:rPr>
              <a:t>0,976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15468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6B7C8C"/>
                </a:solidFill>
                <a:latin typeface="Calibri"/>
              </a:rPr>
              <a:t>macro-F1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1828800"/>
            <a:ext cx="26060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C"/>
            </a:solidFill>
          </a:ln>
          <a:effectLst/>
          <a:effectLst>
            <a:outerShdw blurRad="60000" dist="25000" dir="5400000" rotWithShape="0">
              <a:srgbClr val="8A7A6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92240" y="1828800"/>
            <a:ext cx="2606040" cy="118872"/>
          </a:xfrm>
          <a:prstGeom prst="rect">
            <a:avLst/>
          </a:prstGeom>
          <a:solidFill>
            <a:srgbClr val="2E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240280"/>
            <a:ext cx="2606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2EA06A"/>
                </a:solidFill>
                <a:latin typeface="Consolas"/>
              </a:rPr>
              <a:t>0,982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15468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6B7C8C"/>
                </a:solidFill>
                <a:latin typeface="Calibri"/>
              </a:rPr>
              <a:t>macro-recall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1828800"/>
            <a:ext cx="26060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C"/>
            </a:solidFill>
          </a:ln>
          <a:effectLst/>
          <a:effectLst>
            <a:outerShdw blurRad="60000" dist="25000" dir="5400000" rotWithShape="0">
              <a:srgbClr val="8A7A6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18320" y="1828800"/>
            <a:ext cx="2606040" cy="118872"/>
          </a:xfrm>
          <a:prstGeom prst="rect">
            <a:avLst/>
          </a:prstGeom>
          <a:solidFill>
            <a:srgbClr val="1F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2240280"/>
            <a:ext cx="2606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F8F9C"/>
                </a:solidFill>
                <a:latin typeface="Consolas"/>
              </a:rPr>
              <a:t>1,00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315468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6B7C8C"/>
                </a:solidFill>
                <a:latin typeface="Calibri"/>
              </a:rPr>
              <a:t>F1 na classe EGJ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02336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33424F"/>
                </a:solidFill>
                <a:latin typeface="Calibri"/>
              </a:rPr>
              <a:t>Melhor época 17 · macro-F1 de validação 0,988.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33424F"/>
                </a:solidFill>
                <a:latin typeface="Calibri"/>
              </a:rPr>
              <a:t>Classe mais difícil: </a:t>
            </a:r>
            <a:r>
              <a:rPr sz="1600" b="1" i="0">
                <a:solidFill>
                  <a:srgbClr val="E2661A"/>
                </a:solidFill>
                <a:latin typeface="Calibri"/>
              </a:rPr>
              <a:t>IEM</a:t>
            </a:r>
            <a:r>
              <a:rPr sz="1600" b="0" i="0">
                <a:solidFill>
                  <a:srgbClr val="33424F"/>
                </a:solidFill>
                <a:latin typeface="Calibri"/>
              </a:rPr>
              <a:t> (recall 0,92) — coerente, já que peristalse fraca é o padrão de menor sinal, fácil de confundir com normal.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1">
                <a:solidFill>
                  <a:srgbClr val="6B7C8C"/>
                </a:solidFill>
                <a:latin typeface="Calibri"/>
              </a:rPr>
              <a:t>Observação: nossos 6 diagnósticos são uma tarefa mais fina que os 3 grupos de vigor do artigo original.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743200"/>
            <a:ext cx="1463040" cy="109728"/>
          </a:xfrm>
          <a:prstGeom prst="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1F8F9C"/>
                </a:solidFill>
                <a:latin typeface="Consolas"/>
              </a:rPr>
              <a:t>PARTE 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Quão fiel é ao artigo Wang (2021)?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B5C5D4"/>
                </a:solidFill>
                <a:latin typeface="Calibri"/>
              </a:rPr>
              <a:t>Comparando nossa implementação com o CVP-GAT original, mecanismo por mecanismo.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F8F9C"/>
                </a:solidFill>
                <a:latin typeface="Consolas"/>
              </a:rPr>
              <a:t>REFERÊNCIA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42A3E"/>
                </a:solidFill>
                <a:latin typeface="Calibri"/>
              </a:rPr>
              <a:t>A arquitetura original de Wang 2021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8F9C"/>
                </a:solidFill>
                <a:latin typeface="Consolas"/>
              </a:rPr>
              <a:t>HRM  →  Mask R-CNN + RoIAlign  →  FC  →  grafo (CVP)  →  2× GAT  →  atenção  →  softmax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109728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E2661A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142A3E"/>
                </a:solidFill>
                <a:latin typeface="Calibri"/>
              </a:rPr>
              <a:t>Backbone: </a:t>
            </a:r>
            <a:r>
              <a:rPr sz="1450" b="0" i="0">
                <a:solidFill>
                  <a:srgbClr val="33424F"/>
                </a:solidFill>
                <a:latin typeface="Calibri"/>
              </a:rPr>
              <a:t>Mask R-CNN (Inception-v3 / VGG16) — segmentação de instâncias + RoIAlign extraem cada vigor.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E2661A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142A3E"/>
                </a:solidFill>
                <a:latin typeface="Calibri"/>
              </a:rPr>
              <a:t>Nó: </a:t>
            </a:r>
            <a:r>
              <a:rPr sz="1450" b="0" i="0">
                <a:solidFill>
                  <a:srgbClr val="33424F"/>
                </a:solidFill>
                <a:latin typeface="Calibri"/>
              </a:rPr>
              <a:t>uma instância de vigor detectada, com vetor de features 64-D e coordenada do centro do bounding box (xᵢ,yᵢ).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E2661A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142A3E"/>
                </a:solidFill>
                <a:latin typeface="Calibri"/>
              </a:rPr>
              <a:t>Aresta (Eq. 1): </a:t>
            </a:r>
            <a:r>
              <a:rPr sz="1450" b="0" i="0">
                <a:solidFill>
                  <a:srgbClr val="33424F"/>
                </a:solidFill>
                <a:latin typeface="Calibri"/>
              </a:rPr>
              <a:t>Gᵢⱼ = f( f_a(aᵢ,aⱼ), f_c(cᵢ,cⱼ) ) — funde correlação de representação e de posição, normalizada.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E2661A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142A3E"/>
                </a:solidFill>
                <a:latin typeface="Calibri"/>
              </a:rPr>
              <a:t>f_a: </a:t>
            </a:r>
            <a:r>
              <a:rPr sz="1450" b="0" i="0">
                <a:solidFill>
                  <a:srgbClr val="33424F"/>
                </a:solidFill>
                <a:latin typeface="Calibri"/>
              </a:rPr>
              <a:t>ReLU(Wₐ·[aᵢ,aⱼ]+bₐ) — concatena features e passa por linear+ReLU.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E2661A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142A3E"/>
                </a:solidFill>
                <a:latin typeface="Calibri"/>
              </a:rPr>
              <a:t>f_c: </a:t>
            </a:r>
            <a:r>
              <a:rPr sz="1450" b="0" i="0">
                <a:solidFill>
                  <a:srgbClr val="33424F"/>
                </a:solidFill>
                <a:latin typeface="Calibri"/>
              </a:rPr>
              <a:t>ReLU(W_c·Φ(cᵢ,cⱼ)+b_c) — Φ = embedding senoidal da distância entre bounding boxes.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E2661A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142A3E"/>
                </a:solidFill>
                <a:latin typeface="Calibri"/>
              </a:rPr>
              <a:t>Esparsidade: </a:t>
            </a:r>
            <a:r>
              <a:rPr sz="1450" b="0" i="0">
                <a:solidFill>
                  <a:srgbClr val="33424F"/>
                </a:solidFill>
                <a:latin typeface="Calibri"/>
              </a:rPr>
              <a:t>‘sparse CVP’ — conecta só vigor numa vizinhança local.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E2661A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142A3E"/>
                </a:solidFill>
                <a:latin typeface="Calibri"/>
              </a:rPr>
              <a:t>Leitura + perda: </a:t>
            </a:r>
            <a:r>
              <a:rPr sz="1450" b="0" i="0">
                <a:solidFill>
                  <a:srgbClr val="33424F"/>
                </a:solidFill>
                <a:latin typeface="Calibri"/>
              </a:rPr>
              <a:t>context vector Cont=Σaᵢhᵢ; perda dupla L1 (nó) + λ·L2 (propagação); 3 classes (normal/weak/failed).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F8F9C"/>
                </a:solidFill>
                <a:latin typeface="Consolas"/>
              </a:rPr>
              <a:t>FIDELIDADE CONCEITUAL — ALTA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42A3E"/>
                </a:solidFill>
                <a:latin typeface="Calibri"/>
              </a:rPr>
              <a:t>O que foi mantido do artigo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65960"/>
            <a:ext cx="3200400" cy="576072"/>
          </a:xfrm>
          <a:prstGeom prst="rect">
            <a:avLst/>
          </a:prstGeom>
          <a:solidFill>
            <a:srgbClr val="2E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965960"/>
            <a:ext cx="301752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Conceito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1965960"/>
            <a:ext cx="3566160" cy="576072"/>
          </a:xfrm>
          <a:prstGeom prst="rect">
            <a:avLst/>
          </a:prstGeom>
          <a:solidFill>
            <a:srgbClr val="2E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50208" y="1965960"/>
            <a:ext cx="338327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 artigo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965960"/>
            <a:ext cx="4160520" cy="576072"/>
          </a:xfrm>
          <a:prstGeom prst="rect">
            <a:avLst/>
          </a:prstGeom>
          <a:solidFill>
            <a:srgbClr val="2E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16367" y="1965960"/>
            <a:ext cx="397763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Na nossa implementação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542032"/>
            <a:ext cx="320040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542032"/>
            <a:ext cx="301752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42A3E"/>
                </a:solidFill>
                <a:latin typeface="Calibri"/>
              </a:rPr>
              <a:t>Deglutição como grafo de
regiões de vigor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2542032"/>
            <a:ext cx="356616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50208" y="2542032"/>
            <a:ext cx="338327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424F"/>
                </a:solidFill>
                <a:latin typeface="Calibri"/>
              </a:rPr>
              <a:t>6 regiões nomeadas (Fig. 1)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2542032"/>
            <a:ext cx="41605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16367" y="2542032"/>
            <a:ext cx="397763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424F"/>
                </a:solidFill>
                <a:latin typeface="Consolas"/>
              </a:rPr>
              <a:t>6 nós (num_graph_nodes=6)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118104"/>
            <a:ext cx="3200400" cy="576072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118104"/>
            <a:ext cx="301752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42A3E"/>
                </a:solidFill>
                <a:latin typeface="Calibri"/>
              </a:rPr>
              <a:t>Aresta = representação +
posição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3118104"/>
            <a:ext cx="3566160" cy="576072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50208" y="3118104"/>
            <a:ext cx="338327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424F"/>
                </a:solidFill>
                <a:latin typeface="Calibri"/>
              </a:rPr>
              <a:t>Eq. 1: G = f(f_a, f_c)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3118104"/>
            <a:ext cx="4160520" cy="576072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16367" y="3118104"/>
            <a:ext cx="397763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424F"/>
                </a:solidFill>
                <a:latin typeface="Consolas"/>
              </a:rPr>
              <a:t>logits += corr. de repr. + viés de posição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694176"/>
            <a:ext cx="320040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694176"/>
            <a:ext cx="301752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42A3E"/>
                </a:solidFill>
                <a:latin typeface="Calibri"/>
              </a:rPr>
              <a:t>Conectividade esparsa local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0" y="3694176"/>
            <a:ext cx="356616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50208" y="3694176"/>
            <a:ext cx="338327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424F"/>
                </a:solidFill>
                <a:latin typeface="Calibri"/>
              </a:rPr>
              <a:t>‘sparse CVP’, só vizinhança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6640" y="3694176"/>
            <a:ext cx="41605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16367" y="3694176"/>
            <a:ext cx="397763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424F"/>
                </a:solidFill>
                <a:latin typeface="Consolas"/>
              </a:rPr>
              <a:t>graph_radius=2 mascara não-vizinhos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270248"/>
            <a:ext cx="3200400" cy="576072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270248"/>
            <a:ext cx="301752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42A3E"/>
                </a:solidFill>
                <a:latin typeface="Calibri"/>
              </a:rPr>
              <a:t>Leitura por atenção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40480" y="4270248"/>
            <a:ext cx="3566160" cy="576072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50208" y="4270248"/>
            <a:ext cx="338327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424F"/>
                </a:solidFill>
                <a:latin typeface="Calibri"/>
              </a:rPr>
              <a:t>context vector Σ aᵢ·hᵢ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06640" y="4270248"/>
            <a:ext cx="4160520" cy="576072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16367" y="4270248"/>
            <a:ext cx="397763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424F"/>
                </a:solidFill>
                <a:latin typeface="Consolas"/>
              </a:rPr>
              <a:t>readout_query + softmax + soma ponderada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4846320"/>
            <a:ext cx="320040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4846320"/>
            <a:ext cx="301752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42A3E"/>
                </a:solidFill>
                <a:latin typeface="Calibri"/>
              </a:rPr>
              <a:t>CNN antes do grafo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40480" y="4846320"/>
            <a:ext cx="356616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50208" y="4846320"/>
            <a:ext cx="338327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424F"/>
                </a:solidFill>
                <a:latin typeface="Calibri"/>
              </a:rPr>
              <a:t>ConvNet (Inception/VGG)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06640" y="4846320"/>
            <a:ext cx="41605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16367" y="4846320"/>
            <a:ext cx="397763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424F"/>
                </a:solidFill>
                <a:latin typeface="Consolas"/>
              </a:rPr>
              <a:t>ResNet18 / DenseNet201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5422392"/>
            <a:ext cx="3200400" cy="576072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8" y="5422392"/>
            <a:ext cx="301752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42A3E"/>
                </a:solidFill>
                <a:latin typeface="Calibri"/>
              </a:rPr>
              <a:t>Empilhar camadas de atenção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40480" y="5422392"/>
            <a:ext cx="3566160" cy="576072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50208" y="5422392"/>
            <a:ext cx="338327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424F"/>
                </a:solidFill>
                <a:latin typeface="Calibri"/>
              </a:rPr>
              <a:t>Conv1 + Conv2 + atenção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06640" y="5422392"/>
            <a:ext cx="4160520" cy="576072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16367" y="5422392"/>
            <a:ext cx="397763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424F"/>
                </a:solidFill>
                <a:latin typeface="Consolas"/>
              </a:rPr>
              <a:t>graph_num_layers = 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EA06A"/>
                </a:solidFill>
                <a:latin typeface="Calibri"/>
              </a:rPr>
              <a:t>→ Os cinco pilares do método CVP-GAT estão presentes.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F8F9C"/>
                </a:solidFill>
                <a:latin typeface="Consolas"/>
              </a:rPr>
              <a:t>FIDELIDADE DE IMPLEMENTAÇÃO — MÉDIA/BAIXA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42A3E"/>
                </a:solidFill>
                <a:latin typeface="Calibri"/>
              </a:rPr>
              <a:t>O que foi re-engenhado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2286000" cy="484632"/>
          </a:xfrm>
          <a:prstGeom prst="rect">
            <a:avLst/>
          </a:prstGeom>
          <a:solidFill>
            <a:srgbClr val="142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74519"/>
            <a:ext cx="2148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Aspecto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874519"/>
            <a:ext cx="3246120" cy="484632"/>
          </a:xfrm>
          <a:prstGeom prst="rect">
            <a:avLst/>
          </a:prstGeom>
          <a:solidFill>
            <a:srgbClr val="142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1874519"/>
            <a:ext cx="31089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Artigo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874519"/>
            <a:ext cx="3429000" cy="484632"/>
          </a:xfrm>
          <a:prstGeom prst="rect">
            <a:avLst/>
          </a:prstGeom>
          <a:solidFill>
            <a:srgbClr val="142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79" y="1874519"/>
            <a:ext cx="3291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Nossa implementação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64040" y="1874519"/>
            <a:ext cx="1691640" cy="484632"/>
          </a:xfrm>
          <a:prstGeom prst="rect">
            <a:avLst/>
          </a:prstGeom>
          <a:solidFill>
            <a:srgbClr val="142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55480" y="1874519"/>
            <a:ext cx="155448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Impacto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359152"/>
            <a:ext cx="228600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359152"/>
            <a:ext cx="2148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42A3E"/>
                </a:solidFill>
                <a:latin typeface="Calibri"/>
              </a:rPr>
              <a:t>Como os nós nascem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88920" y="2359152"/>
            <a:ext cx="324612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360" y="2359152"/>
            <a:ext cx="31089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424F"/>
                </a:solidFill>
                <a:latin typeface="Calibri"/>
              </a:rPr>
              <a:t>regiões detectadas c/
coordenada real (x,y)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359152"/>
            <a:ext cx="342900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79" y="2359152"/>
            <a:ext cx="3291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424F"/>
                </a:solidFill>
                <a:latin typeface="Calibri"/>
              </a:rPr>
              <a:t>6 faixas de altura fixa
(partição geométrica)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64040" y="2359152"/>
            <a:ext cx="169164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46920" y="2450592"/>
            <a:ext cx="1325880" cy="301752"/>
          </a:xfrm>
          <a:prstGeom prst="roundRect">
            <a:avLst/>
          </a:prstGeom>
          <a:solidFill>
            <a:srgbClr val="C0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46920" y="2432304"/>
            <a:ext cx="1325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Grande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843784"/>
            <a:ext cx="2286000" cy="484632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2843784"/>
            <a:ext cx="2148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42A3E"/>
                </a:solidFill>
                <a:latin typeface="Calibri"/>
              </a:rPr>
              <a:t>Feature do nó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88920" y="2843784"/>
            <a:ext cx="3246120" cy="484632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80360" y="2843784"/>
            <a:ext cx="31089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424F"/>
                </a:solidFill>
                <a:latin typeface="Calibri"/>
              </a:rPr>
              <a:t>64-D + coordenada (x,y)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2843784"/>
            <a:ext cx="3429000" cy="484632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79" y="2843784"/>
            <a:ext cx="3291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424F"/>
                </a:solidFill>
                <a:latin typeface="Calibri"/>
              </a:rPr>
              <a:t>256-D, sem coordenada explícita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64040" y="2843784"/>
            <a:ext cx="1691640" cy="484632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46920" y="2935224"/>
            <a:ext cx="1325880" cy="301752"/>
          </a:xfrm>
          <a:prstGeom prst="round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46920" y="2916936"/>
            <a:ext cx="1325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Médio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328415"/>
            <a:ext cx="228600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328415"/>
            <a:ext cx="2148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42A3E"/>
                </a:solidFill>
                <a:latin typeface="Calibri"/>
              </a:rPr>
              <a:t>f_a (representação)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88920" y="3328415"/>
            <a:ext cx="324612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80360" y="3328415"/>
            <a:ext cx="31089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424F"/>
                </a:solidFill>
                <a:latin typeface="Calibri"/>
              </a:rPr>
              <a:t>ReLU(W·[aᵢ,aⱼ]+b)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3328415"/>
            <a:ext cx="342900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79" y="3328415"/>
            <a:ext cx="3291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424F"/>
                </a:solidFill>
                <a:latin typeface="Calibri"/>
              </a:rPr>
              <a:t>similaridade de cosseno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64040" y="3328415"/>
            <a:ext cx="169164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646920" y="3419856"/>
            <a:ext cx="1325880" cy="301752"/>
          </a:xfrm>
          <a:prstGeom prst="roundRect">
            <a:avLst/>
          </a:prstGeom>
          <a:solidFill>
            <a:srgbClr val="2E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46920" y="3401568"/>
            <a:ext cx="1325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Baixo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3813048"/>
            <a:ext cx="2286000" cy="484632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3813048"/>
            <a:ext cx="2148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42A3E"/>
                </a:solidFill>
                <a:latin typeface="Calibri"/>
              </a:rPr>
              <a:t>f_c (posição)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88920" y="3813048"/>
            <a:ext cx="3246120" cy="484632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880360" y="3813048"/>
            <a:ext cx="31089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424F"/>
                </a:solidFill>
                <a:latin typeface="Calibri"/>
              </a:rPr>
              <a:t>embedding senoidal do bbox 2-D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35040" y="3813048"/>
            <a:ext cx="3429000" cy="484632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26479" y="3813048"/>
            <a:ext cx="3291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424F"/>
                </a:solidFill>
                <a:latin typeface="Calibri"/>
              </a:rPr>
              <a:t>bias aprendido por índice 1-D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464040" y="3813048"/>
            <a:ext cx="1691640" cy="484632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646920" y="3904487"/>
            <a:ext cx="1325880" cy="301752"/>
          </a:xfrm>
          <a:prstGeom prst="round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46920" y="3886200"/>
            <a:ext cx="1325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Médio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4297680"/>
            <a:ext cx="228600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4360" y="4297680"/>
            <a:ext cx="2148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42A3E"/>
                </a:solidFill>
                <a:latin typeface="Calibri"/>
              </a:rPr>
              <a:t>Bloco de atenção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88920" y="4297680"/>
            <a:ext cx="324612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80360" y="4297680"/>
            <a:ext cx="31089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424F"/>
                </a:solidFill>
                <a:latin typeface="Calibri"/>
              </a:rPr>
              <a:t>GAT / soft attention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35040" y="4297680"/>
            <a:ext cx="342900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26479" y="4297680"/>
            <a:ext cx="3291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424F"/>
                </a:solidFill>
                <a:latin typeface="Calibri"/>
              </a:rPr>
              <a:t>Transformer multi-head (QKV+MLP)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64040" y="4297680"/>
            <a:ext cx="169164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646920" y="4389120"/>
            <a:ext cx="1325880" cy="301752"/>
          </a:xfrm>
          <a:prstGeom prst="round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46920" y="4370832"/>
            <a:ext cx="1325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Médio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2920" y="4782312"/>
            <a:ext cx="2286000" cy="484632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4360" y="4782312"/>
            <a:ext cx="2148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42A3E"/>
                </a:solidFill>
                <a:latin typeface="Calibri"/>
              </a:rPr>
              <a:t>Nº de nós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88920" y="4782312"/>
            <a:ext cx="3246120" cy="484632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880360" y="4782312"/>
            <a:ext cx="31089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424F"/>
                </a:solidFill>
                <a:latin typeface="Calibri"/>
              </a:rPr>
              <a:t>ablação: 50 melhor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35040" y="4782312"/>
            <a:ext cx="3429000" cy="484632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26479" y="4782312"/>
            <a:ext cx="3291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424F"/>
                </a:solidFill>
                <a:latin typeface="Calibri"/>
              </a:rPr>
              <a:t>fixo em 6 (segue a anatomia)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464040" y="4782312"/>
            <a:ext cx="1691640" cy="484632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9646920" y="4873752"/>
            <a:ext cx="1325880" cy="301752"/>
          </a:xfrm>
          <a:prstGeom prst="round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46920" y="4855464"/>
            <a:ext cx="1325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Design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2920" y="5266944"/>
            <a:ext cx="228600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94360" y="5266944"/>
            <a:ext cx="2148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42A3E"/>
                </a:solidFill>
                <a:latin typeface="Calibri"/>
              </a:rPr>
              <a:t>Perda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88920" y="5266944"/>
            <a:ext cx="324612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880360" y="5266944"/>
            <a:ext cx="31089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424F"/>
                </a:solidFill>
                <a:latin typeface="Calibri"/>
              </a:rPr>
              <a:t>dupla: L1(nó)+λ·L2(prop.)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35040" y="5266944"/>
            <a:ext cx="342900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26479" y="5266944"/>
            <a:ext cx="3291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424F"/>
                </a:solidFill>
                <a:latin typeface="Calibri"/>
              </a:rPr>
              <a:t>única: cross-entropy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464040" y="5266944"/>
            <a:ext cx="169164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9646920" y="5358383"/>
            <a:ext cx="1325880" cy="301752"/>
          </a:xfrm>
          <a:prstGeom prst="round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646920" y="5340096"/>
            <a:ext cx="1325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Médio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02920" y="5751576"/>
            <a:ext cx="2286000" cy="484632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94360" y="5751576"/>
            <a:ext cx="2148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42A3E"/>
                </a:solidFill>
                <a:latin typeface="Calibri"/>
              </a:rPr>
              <a:t>Classes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88920" y="5751576"/>
            <a:ext cx="3246120" cy="484632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880360" y="5751576"/>
            <a:ext cx="31089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424F"/>
                </a:solidFill>
                <a:latin typeface="Calibri"/>
              </a:rPr>
              <a:t>3 (normal/weak/failed, por DCI)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035040" y="5751576"/>
            <a:ext cx="3429000" cy="484632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126479" y="5751576"/>
            <a:ext cx="3291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424F"/>
                </a:solidFill>
                <a:latin typeface="Calibri"/>
              </a:rPr>
              <a:t>6 diagnósticos clínicos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464040" y="5751576"/>
            <a:ext cx="1691640" cy="484632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9646920" y="5843016"/>
            <a:ext cx="1325880" cy="301752"/>
          </a:xfrm>
          <a:prstGeom prst="round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646920" y="5824728"/>
            <a:ext cx="1325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Tarefa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F8F9C"/>
                </a:solidFill>
                <a:latin typeface="Consolas"/>
              </a:rPr>
              <a:t>A DIFERENÇA CRÍTICA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42A3E"/>
                </a:solidFill>
                <a:latin typeface="Calibri"/>
              </a:rPr>
              <a:t>Como nascem os nós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3949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C"/>
            </a:solidFill>
          </a:ln>
          <a:effectLst/>
          <a:effectLst>
            <a:outerShdw blurRad="60000" dist="25000" dir="5400000" rotWithShape="0">
              <a:srgbClr val="8A7A6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5394960" cy="128016"/>
          </a:xfrm>
          <a:prstGeom prst="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E2661A"/>
                </a:solidFill>
                <a:latin typeface="Consolas"/>
              </a:rPr>
              <a:t>ARTIGO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142A3E"/>
                </a:solidFill>
                <a:latin typeface="Calibri"/>
              </a:rPr>
              <a:t>Nó = região específica
localizada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400" b="0" i="0">
                <a:solidFill>
                  <a:srgbClr val="33424F"/>
                </a:solidFill>
                <a:latin typeface="Calibri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33424F"/>
                </a:solidFill>
                <a:latin typeface="Calibri"/>
              </a:rPr>
              <a:t>Mask R-CNN detecta cada evento contrátil </a:t>
            </a:r>
            <a:r>
              <a:rPr sz="1400" b="1" i="0">
                <a:solidFill>
                  <a:srgbClr val="E2661A"/>
                </a:solidFill>
                <a:latin typeface="Calibri"/>
              </a:rPr>
              <a:t>onde ele de fato está</a:t>
            </a:r>
            <a:r>
              <a:rPr sz="1400" b="0" i="0">
                <a:solidFill>
                  <a:srgbClr val="33424F"/>
                </a:solidFill>
                <a:latin typeface="Calibri"/>
              </a:rPr>
              <a:t> — com coordenada real cᵢ=(xᵢ,yᵢ). Os nós acompanham a onda diagonal e mudam a cada exame.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400" b="0" i="0">
                <a:solidFill>
                  <a:srgbClr val="33424F"/>
                </a:solidFill>
                <a:latin typeface="Calibri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33424F"/>
                </a:solidFill>
                <a:latin typeface="Calibri"/>
              </a:rPr>
              <a:t>A correlação de posição f_c usa a </a:t>
            </a:r>
            <a:r>
              <a:rPr sz="1400" b="1" i="0">
                <a:solidFill>
                  <a:srgbClr val="E2661A"/>
                </a:solidFill>
                <a:latin typeface="Calibri"/>
              </a:rPr>
              <a:t>distância 2-D real</a:t>
            </a:r>
            <a:r>
              <a:rPr sz="1400" b="0" i="0">
                <a:solidFill>
                  <a:srgbClr val="33424F"/>
                </a:solidFill>
                <a:latin typeface="Calibri"/>
              </a:rPr>
              <a:t> entre os centros.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400" b="0" i="0">
                <a:solidFill>
                  <a:srgbClr val="33424F"/>
                </a:solidFill>
                <a:latin typeface="Calibri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1">
                <a:solidFill>
                  <a:srgbClr val="6B7C8C"/>
                </a:solidFill>
                <a:latin typeface="Calibri"/>
              </a:rPr>
              <a:t>Custo: pipeline pesado, precisa de caixas de vigor rotuladas.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91640"/>
            <a:ext cx="53492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C"/>
            </a:solidFill>
          </a:ln>
          <a:effectLst/>
          <a:effectLst>
            <a:outerShdw blurRad="60000" dist="25000" dir="5400000" rotWithShape="0">
              <a:srgbClr val="8A7A6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91640"/>
            <a:ext cx="5349240" cy="128016"/>
          </a:xfrm>
          <a:prstGeom prst="rect">
            <a:avLst/>
          </a:prstGeom>
          <a:solidFill>
            <a:srgbClr val="1F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965960"/>
            <a:ext cx="48006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F8F9C"/>
                </a:solidFill>
                <a:latin typeface="Consolas"/>
              </a:rPr>
              <a:t>NOSSA IMPLEMENTAÇÃO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142A3E"/>
                </a:solidFill>
                <a:latin typeface="Calibri"/>
              </a:rPr>
              <a:t>Nó = faixa de altura fixa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400" b="0" i="0">
                <a:solidFill>
                  <a:srgbClr val="33424F"/>
                </a:solidFill>
                <a:latin typeface="Calibri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33424F"/>
                </a:solidFill>
                <a:latin typeface="Consolas"/>
              </a:rPr>
              <a:t>AdaptiveAvgPool2d((6,8))</a:t>
            </a:r>
            <a:r>
              <a:rPr sz="1400" b="0" i="0">
                <a:solidFill>
                  <a:srgbClr val="33424F"/>
                </a:solidFill>
                <a:latin typeface="Calibri"/>
              </a:rPr>
              <a:t> divide o mapa em 6 faixas de </a:t>
            </a:r>
            <a:r>
              <a:rPr sz="1400" b="1" i="0">
                <a:solidFill>
                  <a:srgbClr val="1F8F9C"/>
                </a:solidFill>
                <a:latin typeface="Calibri"/>
              </a:rPr>
              <a:t>altura igual e fixa</a:t>
            </a:r>
            <a:r>
              <a:rPr sz="1400" b="0" i="0">
                <a:solidFill>
                  <a:srgbClr val="33424F"/>
                </a:solidFill>
                <a:latin typeface="Calibri"/>
              </a:rPr>
              <a:t> (1/6 da imagem). O nó 0 é sempre ‘o topo’ — partição geométrica, não região funcional.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400" b="0" i="0">
                <a:solidFill>
                  <a:srgbClr val="33424F"/>
                </a:solidFill>
                <a:latin typeface="Calibri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33424F"/>
                </a:solidFill>
                <a:latin typeface="Calibri"/>
              </a:rPr>
              <a:t>A ‘posição’ é só o </a:t>
            </a:r>
            <a:r>
              <a:rPr sz="1400" b="1" i="0">
                <a:solidFill>
                  <a:srgbClr val="1F8F9C"/>
                </a:solidFill>
                <a:latin typeface="Calibri"/>
              </a:rPr>
              <a:t>índice da faixa (1-D)</a:t>
            </a:r>
            <a:r>
              <a:rPr sz="1400" b="0" i="0">
                <a:solidFill>
                  <a:srgbClr val="33424F"/>
                </a:solidFill>
                <a:latin typeface="Calibri"/>
              </a:rPr>
              <a:t>, via viés relativo aprendido — sem coordenada de tempo.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400" b="0" i="0">
                <a:solidFill>
                  <a:srgbClr val="33424F"/>
                </a:solidFill>
                <a:latin typeface="Calibri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1">
                <a:solidFill>
                  <a:srgbClr val="6B7C8C"/>
                </a:solidFill>
                <a:latin typeface="Calibri"/>
              </a:rPr>
              <a:t>Ganho: leve, treina de ponta a ponta só com o rótulo do diagnóstico.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53328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42A3E"/>
                </a:solidFill>
                <a:latin typeface="Calibri"/>
              </a:rPr>
              <a:t>A distância maior: </a:t>
            </a:r>
            <a:r>
              <a:rPr sz="1350" b="0" i="0">
                <a:solidFill>
                  <a:srgbClr val="142A3E"/>
                </a:solidFill>
                <a:latin typeface="Calibri"/>
              </a:rPr>
              <a:t>‘região específica com posição real 2-D’ vira ‘faixa de altura fixa com posição = índice’. Some a localização temporal do nó.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F8F9C"/>
                </a:solidFill>
                <a:latin typeface="Consolas"/>
              </a:rPr>
              <a:t>SÍNTESE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42A3E"/>
                </a:solidFill>
                <a:latin typeface="Calibri"/>
              </a:rPr>
              <a:t>Veredito de fidelidade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47472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C"/>
            </a:solidFill>
          </a:ln>
          <a:effectLst/>
          <a:effectLst>
            <a:outerShdw blurRad="60000" dist="25000" dir="5400000" rotWithShape="0">
              <a:srgbClr val="8A7A6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3474720" cy="128016"/>
          </a:xfrm>
          <a:prstGeom prst="rect">
            <a:avLst/>
          </a:prstGeom>
          <a:solidFill>
            <a:srgbClr val="2E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42A3E"/>
                </a:solidFill>
                <a:latin typeface="Calibri"/>
              </a:rPr>
              <a:t>Conceito / intenção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606040"/>
            <a:ext cx="1737360" cy="502920"/>
          </a:xfrm>
          <a:prstGeom prst="roundRect">
            <a:avLst/>
          </a:prstGeom>
          <a:solidFill>
            <a:srgbClr val="2E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87752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onsolas"/>
              </a:rPr>
              <a:t>ALTA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29260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33424F"/>
                </a:solidFill>
                <a:latin typeface="Calibri"/>
              </a:rPr>
              <a:t>Os 5 pilares do CVP-GAT — grafo de 6 regiões de vigor, aresta = representação + posição, esparsidade local, leitura por atenção, CNN na base — estão todos presentes.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737360"/>
            <a:ext cx="347472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C"/>
            </a:solidFill>
          </a:ln>
          <a:effectLst/>
          <a:effectLst>
            <a:outerShdw blurRad="60000" dist="25000" dir="5400000" rotWithShape="0">
              <a:srgbClr val="8A7A6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737360"/>
            <a:ext cx="3474720" cy="128016"/>
          </a:xfrm>
          <a:prstGeom prst="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0574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42A3E"/>
                </a:solidFill>
                <a:latin typeface="Calibri"/>
              </a:rPr>
              <a:t>Mecanismo / matemática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2606040"/>
            <a:ext cx="1737360" cy="502920"/>
          </a:xfrm>
          <a:prstGeom prst="round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2587752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onsolas"/>
              </a:rPr>
              <a:t>MÉDIA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337560"/>
            <a:ext cx="29260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33424F"/>
                </a:solidFill>
                <a:latin typeface="Calibri"/>
              </a:rPr>
              <a:t>Mesma intenção, funções diferentes: cosseno no lugar de ReLU(W·concat); bias relativo 1-D no lugar do embedding senoidal 2-D; Transformer no lugar do GAT clássico.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19" y="1737360"/>
            <a:ext cx="347472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C"/>
            </a:solidFill>
          </a:ln>
          <a:effectLst/>
          <a:effectLst>
            <a:outerShdw blurRad="60000" dist="25000" dir="5400000" rotWithShape="0">
              <a:srgbClr val="8A7A6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19" y="1737360"/>
            <a:ext cx="3474720" cy="128016"/>
          </a:xfrm>
          <a:prstGeom prst="rect">
            <a:avLst/>
          </a:prstGeom>
          <a:solidFill>
            <a:srgbClr val="C0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0574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42A3E"/>
                </a:solidFill>
                <a:latin typeface="Calibri"/>
              </a:rPr>
              <a:t>Arquitetura / tarefa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2606040"/>
            <a:ext cx="1737360" cy="502920"/>
          </a:xfrm>
          <a:prstGeom prst="roundRect">
            <a:avLst/>
          </a:prstGeom>
          <a:solidFill>
            <a:srgbClr val="C0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2587752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onsolas"/>
              </a:rPr>
              <a:t>BAIXA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337560"/>
            <a:ext cx="29260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33424F"/>
                </a:solidFill>
                <a:latin typeface="Calibri"/>
              </a:rPr>
              <a:t>Sem Mask R-CNN/RoIAlign; nós por pooling, não por detecção; perda única, não dupla; 6 diagnósticos clínicos, não 3 grupos de vigor por DCI.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943600"/>
            <a:ext cx="10927080" cy="685800"/>
          </a:xfrm>
          <a:prstGeom prst="roundRect">
            <a:avLst/>
          </a:prstGeom>
          <a:solidFill>
            <a:srgbClr val="142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943600"/>
            <a:ext cx="104241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8F9C"/>
                </a:solidFill>
                <a:latin typeface="Calibri"/>
              </a:rPr>
              <a:t>Em uma frase: 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uma reinterpretação fiel à ideia e modernizada na engenharia — ‘Wang-inspired’, não uma reprodução — aplicada a uma tarefa clínica mais difícil.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77440"/>
            <a:ext cx="1463040" cy="109728"/>
          </a:xfrm>
          <a:prstGeom prst="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Obrigado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B5C5D4"/>
                </a:solidFill>
                <a:latin typeface="Consolas"/>
              </a:rPr>
              <a:t>Código: manometry_models/graph_model.py  ·  checkpoint: artifacts/wang_cvp_gat_pretrained/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1">
                <a:solidFill>
                  <a:srgbClr val="9FB3C4"/>
                </a:solidFill>
                <a:latin typeface="Calibri"/>
              </a:rPr>
              <a:t>Figuras 2–6 são ativações reais capturadas por hooks numa imagem de Jackhammer.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1">
                <a:solidFill>
                  <a:srgbClr val="8A9EB0"/>
                </a:solidFill>
                <a:latin typeface="Calibri"/>
              </a:rPr>
              <a:t>Wang, Yan, Dai, Lu, Zhang, Hou, Liu (2021). Attention graph convolutional nets for esophageal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1">
                <a:solidFill>
                  <a:srgbClr val="8A9EB0"/>
                </a:solidFill>
                <a:latin typeface="Calibri"/>
              </a:rPr>
              <a:t>contraction pattern recognition in high-resolution manometries. Biomed. Signal Process. Control 68, 102734.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8F9C"/>
                </a:solidFill>
                <a:latin typeface="Consolas"/>
              </a:rPr>
              <a:t>ATENÇÃO DO GRAFO · UM EXEMPLO POR CLASSE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2A3E"/>
                </a:solidFill>
                <a:latin typeface="Calibri"/>
              </a:rPr>
              <a:t>O que o grafo realmente olha, por diagnóstico</a:t>
            </a:r>
          </a:p>
        </p:txBody>
      </p:sp>
      <p:pic>
        <p:nvPicPr>
          <p:cNvPr id="6" name="Picture 5" descr="painel_cl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36192"/>
            <a:ext cx="10881360" cy="41790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76072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3424F"/>
                </a:solidFill>
                <a:latin typeface="Calibri"/>
              </a:rPr>
              <a:t>Linha de cima: </a:t>
            </a:r>
            <a:r>
              <a:rPr sz="1200" b="0">
                <a:solidFill>
                  <a:srgbClr val="33424F"/>
                </a:solidFill>
                <a:latin typeface="Calibri"/>
              </a:rPr>
              <a:t>as 6 bandas em que a imagem é dividida (sobrepostas).  </a:t>
            </a:r>
            <a:r>
              <a:rPr sz="1200" b="1">
                <a:solidFill>
                  <a:srgbClr val="33424F"/>
                </a:solidFill>
                <a:latin typeface="Calibri"/>
              </a:rPr>
              <a:t>Linha de baixo: </a:t>
            </a:r>
            <a:r>
              <a:rPr sz="1200" b="0">
                <a:solidFill>
                  <a:srgbClr val="33424F"/>
                </a:solidFill>
                <a:latin typeface="Calibri"/>
              </a:rPr>
              <a:t>peso de cada região no vetor que decide a classe.
</a:t>
            </a:r>
            <a:r>
              <a:rPr sz="1200" b="1">
                <a:solidFill>
                  <a:srgbClr val="E2661A"/>
                </a:solidFill>
                <a:latin typeface="Calibri"/>
              </a:rPr>
              <a:t>Atenção: </a:t>
            </a:r>
            <a:r>
              <a:rPr sz="1200" b="0">
                <a:solidFill>
                  <a:srgbClr val="33424F"/>
                </a:solidFill>
                <a:latin typeface="Calibri"/>
              </a:rPr>
              <a:t>o readout aprendido colapsou — escolhe o nó 2 em 90,5% do conjunto de teste (entropia 0,035 nats vs. 1,792 do uniforme). O que varia entre diagnósticos é o rollout do GAT, ou seja, quais regiões alimentam esse nó.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47104"/>
            <a:ext cx="10881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6B7C8C"/>
                </a:solidFill>
                <a:latin typeface="Calibri"/>
              </a:rPr>
              <a:t>Checkpoint: artifacts/wang_cvp_gat_pretrained/best_model.pt  ·  imagens de data_clean/test  ·  rollout com residual 50/50 (heurística de Abnar &amp; Zuidema)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