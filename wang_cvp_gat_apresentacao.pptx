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90288"/>
            <a:ext cx="12191695" cy="54864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8F9C"/>
                </a:solidFill>
                <a:latin typeface="Consolas"/>
              </a:rPr>
              <a:t>MODELO  ·  MANOMETRIA DE ALTA RESOLUÇÃO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Wang CVP-GAT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0" i="0">
                <a:solidFill>
                  <a:srgbClr val="C7D3DE"/>
                </a:solidFill>
                <a:latin typeface="Calibri"/>
              </a:rPr>
              <a:t>Como funciona, de ponta a ponta — e quão fiel é ao artigo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FB3C4"/>
                </a:solidFill>
                <a:latin typeface="Calibri"/>
              </a:rPr>
              <a:t>Grafo de 6 regiões de vigor esofágico + atenção esparsa sobre um backbone CNN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9EB0"/>
                </a:solidFill>
                <a:latin typeface="Calibri"/>
              </a:rPr>
              <a:t>Base teórica: Wang et al., </a:t>
            </a:r>
            <a:r>
              <a:rPr sz="1300" b="0" i="1">
                <a:solidFill>
                  <a:srgbClr val="8A9EB0"/>
                </a:solidFill>
                <a:latin typeface="Calibri"/>
              </a:rPr>
              <a:t>Attention graph convolutional nets for esophageal contraction pattern recognition in HRM</a:t>
            </a:r>
            <a:r>
              <a:rPr sz="1300" b="0" i="0">
                <a:solidFill>
                  <a:srgbClr val="8A9EB0"/>
                </a:solidFill>
                <a:latin typeface="Calibri"/>
              </a:rPr>
              <a:t>  ·  Biomed. Signal Process. Control 68 (2021) 102734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que esta apresentação cobre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257800" cy="128016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2A3E"/>
                </a:solidFill>
                <a:latin typeface="Calibri"/>
              </a:rPr>
              <a:t>Parte 1 — Como o modelo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572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O problema clínico e por que um grafo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Pipeline de ponta a ponta (tensores)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Cada camada com a imagem real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O que são nós e arestas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1F8F9C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Como distingue os 6 diagnósticos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257800" cy="128016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42A3E"/>
                </a:solidFill>
                <a:latin typeface="Calibri"/>
              </a:rPr>
              <a:t>Parte 2 — Fidelidade ao artigo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5720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A arquitetura original de Wang 2021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O que foi mantido (núcleo conceitual)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O que foi re-engenhado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A diferença crítica: como nascem os nós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E2661A"/>
                </a:solidFill>
                <a:latin typeface="Calibri"/>
              </a:rPr>
              <a:t>›  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Veredito de fidelidade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problema clínico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6751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42A3E"/>
                </a:solidFill>
                <a:latin typeface="Calibri"/>
              </a:rPr>
              <a:t>A manometria de alta resolução (HRM)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registra a pressão ao longo do esôfago durante a deglutição e a converte numa </a:t>
            </a:r>
            <a:r>
              <a:rPr sz="1600" b="0" i="1">
                <a:solidFill>
                  <a:srgbClr val="33424F"/>
                </a:solidFill>
                <a:latin typeface="Calibri"/>
              </a:rPr>
              <a:t>topografia de pressão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(o mapa de calor).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O diagnóstico depende de </a:t>
            </a:r>
            <a:r>
              <a:rPr sz="1600" b="1" i="0">
                <a:solidFill>
                  <a:srgbClr val="E2661A"/>
                </a:solidFill>
                <a:latin typeface="Calibri"/>
              </a:rPr>
              <a:t>como as regiões se relacionam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: a onda desce coordenada? o esfíncter relaxa na hora certa? a contração é forte demais?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Ler isso manualmente é lento e subjetivo — daí um modelo que </a:t>
            </a:r>
            <a:r>
              <a:rPr sz="1600" b="1" i="0">
                <a:solidFill>
                  <a:srgbClr val="1F8F9C"/>
                </a:solidFill>
                <a:latin typeface="Calibri"/>
              </a:rPr>
              <a:t>raciocina sobre regiões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, não só sobre pixels.</a:t>
            </a:r>
          </a:p>
        </p:txBody>
      </p:sp>
      <p:pic>
        <p:nvPicPr>
          <p:cNvPr id="7" name="Picture 6" descr="01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00200"/>
            <a:ext cx="402336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567842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C8C"/>
                </a:solidFill>
                <a:latin typeface="Calibri"/>
              </a:rPr>
              <a:t>Topografia de pressão: Y = posição no esôfago · X = tempo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A IDEIA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Por que um grafo?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60350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Uma CNN comum decide olhando o mapa inteiro de uma vez.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O CVP-GAT primeiro reduz a imagem a </a:t>
            </a:r>
            <a:r>
              <a:rPr sz="1600" b="1" i="0">
                <a:solidFill>
                  <a:srgbClr val="E2661A"/>
                </a:solidFill>
                <a:latin typeface="Calibri"/>
              </a:rPr>
              <a:t>6 regiões empilhadas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de cima para baixo — as ‘regiões de vigor’ da deglutição — e deixa essas regiões </a:t>
            </a:r>
            <a:r>
              <a:rPr sz="1600" b="1" i="0">
                <a:solidFill>
                  <a:srgbClr val="1F8F9C"/>
                </a:solidFill>
                <a:latin typeface="Calibri"/>
              </a:rPr>
              <a:t>conversarem entre si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por atenção antes de decidir.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As 6 regiões (Wang, Fig. 1): </a:t>
            </a:r>
            <a:r>
              <a:rPr sz="1400" b="0" i="0">
                <a:solidFill>
                  <a:srgbClr val="6B7C8C"/>
                </a:solidFill>
                <a:latin typeface="Calibri"/>
              </a:rPr>
              <a:t>UES → estriado → zona de transição → liso → relaxamento do EEI → fechamento do EEI.</a:t>
            </a:r>
          </a:p>
        </p:txBody>
      </p:sp>
      <p:pic>
        <p:nvPicPr>
          <p:cNvPr id="7" name="Picture 6" descr="04_node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554480"/>
            <a:ext cx="448056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608990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C8C"/>
                </a:solidFill>
                <a:latin typeface="Calibri"/>
              </a:rPr>
              <a:t>Os 6 nós = 6 faixas horizontais da imagem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Pipeline de ponta a ponta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378523" cy="118872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Entrada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imagem RGB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B×3×224×224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63155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37475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37475" y="2194560"/>
            <a:ext cx="1378523" cy="118872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0627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Encoder CNN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ResNet18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2339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2339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B×512×7×7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97710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72030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72030" y="2194560"/>
            <a:ext cx="1378523" cy="118872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5182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2661A"/>
                </a:solidFill>
                <a:latin typeface="Consolas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Pooling→nós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AdaptiveAvgPool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26894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6894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B×512×6×8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132265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06585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06585" y="2194560"/>
            <a:ext cx="1378523" cy="118872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9737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2661A"/>
                </a:solidFill>
                <a:latin typeface="Consolas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Projeção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Linear+posição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61449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61449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B×6×256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766821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41141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1141" y="2194560"/>
            <a:ext cx="1378523" cy="118872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293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2661A"/>
                </a:solidFill>
                <a:latin typeface="Consolas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2× GAT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atenção esparsa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96005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6005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B×6×256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01376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75696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75696" y="2194560"/>
            <a:ext cx="1378523" cy="118872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48848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Readout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atenção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0560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0560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B×256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0035931" y="3145536"/>
            <a:ext cx="292608" cy="201168"/>
          </a:xfrm>
          <a:prstGeom prst="rightArrow">
            <a:avLst/>
          </a:prstGeom>
          <a:solidFill>
            <a:srgbClr val="C7B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10251" y="2194560"/>
            <a:ext cx="1378523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10251" y="2194560"/>
            <a:ext cx="1378523" cy="1188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83403" y="2450591"/>
            <a:ext cx="12322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EA06A"/>
                </a:solidFill>
                <a:latin typeface="Consolas"/>
              </a:rPr>
              <a:t>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42A3E"/>
                </a:solidFill>
                <a:latin typeface="Calibri"/>
              </a:rPr>
              <a:t>Classificador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1">
                <a:solidFill>
                  <a:srgbClr val="6B7C8C"/>
                </a:solidFill>
                <a:latin typeface="Calibri"/>
              </a:rPr>
              <a:t>Linear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65115" y="3840479"/>
            <a:ext cx="1268795" cy="365760"/>
          </a:xfrm>
          <a:prstGeom prst="roundRect">
            <a:avLst/>
          </a:prstGeom>
          <a:solidFill>
            <a:srgbClr val="ED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65115" y="3877055"/>
            <a:ext cx="1268795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33424F"/>
                </a:solidFill>
                <a:latin typeface="Consolas"/>
              </a:rPr>
              <a:t>B×6 classes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89204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Cada caixa é uma transformação de tensor no </a:t>
            </a:r>
            <a:r>
              <a:rPr sz="1400" b="0" i="0">
                <a:solidFill>
                  <a:srgbClr val="33424F"/>
                </a:solidFill>
                <a:latin typeface="Consolas"/>
              </a:rPr>
              <a:t>forward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de WangCVPGAT (graph_model.py, linhas 196–209). </a:t>
            </a:r>
            <a:r>
              <a:rPr sz="1400" b="0" i="0">
                <a:solidFill>
                  <a:srgbClr val="33424F"/>
                </a:solidFill>
                <a:latin typeface="Consolas"/>
              </a:rPr>
              <a:t>B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= batch.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7C8C"/>
                </a:solidFill>
                <a:latin typeface="Calibri"/>
              </a:rPr>
              <a:t>Núcleo do método → estágios 3 a 6: a imagem vira grafo, os nós trocam informação e uma atenção resume tudo.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ESTÁGIOS 1–2 · IMAGEM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A CNN encontra onde está a pressão</a:t>
            </a:r>
          </a:p>
        </p:txBody>
      </p:sp>
      <p:pic>
        <p:nvPicPr>
          <p:cNvPr id="6" name="Picture 5" descr="02_featur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4937760" cy="39502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6052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C8C"/>
                </a:solidFill>
                <a:latin typeface="Calibri"/>
              </a:rPr>
              <a:t>Mapa de features ResNet18 (7×7, média dos 512 canais)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28800"/>
            <a:ext cx="55778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8F9C"/>
                </a:solidFill>
                <a:latin typeface="Consolas"/>
              </a:rPr>
              <a:t>B×3×224²  →  B×512×7×7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As camadas convolucionais da ResNet transformam pixels em 512 ‘detectores de padrão’ numa grade 7×7.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A ativação acende </a:t>
            </a:r>
            <a:r>
              <a:rPr sz="1500" b="1" i="0">
                <a:solidFill>
                  <a:srgbClr val="E2661A"/>
                </a:solidFill>
                <a:latin typeface="Calibri"/>
              </a:rPr>
              <a:t>exatamente sobre a banda de pressão alta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 — a CNN já achou o padrão relevante, mas ainda não sabe o que ele significa.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ESTÁGIO 3 · IMAGEM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A grade vira 6 nós × 8 bins de tempo</a:t>
            </a:r>
          </a:p>
        </p:txBody>
      </p:sp>
      <p:pic>
        <p:nvPicPr>
          <p:cNvPr id="6" name="Picture 5" descr="03_nod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7607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32703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C8C"/>
                </a:solidFill>
                <a:latin typeface="Calibri"/>
              </a:rPr>
              <a:t>Cada linha é um nó; o nó do meio acende no tempo central (assinatura do Jackhammer)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50292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148840"/>
            <a:ext cx="43891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2661A"/>
                </a:solidFill>
                <a:latin typeface="Consolas"/>
              </a:rPr>
              <a:t>B×512×7×7  →  B×512×6×8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424F"/>
                </a:solidFill>
                <a:latin typeface="Consolas"/>
              </a:rPr>
              <a:t>AdaptiveAvgPool2d((6, 8))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 força a altura a 6 (os nós) e a largura a 8 (bins de tempo).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424F"/>
                </a:solidFill>
                <a:latin typeface="Calibri"/>
              </a:rPr>
              <a:t>Cada nó vira um vetor de 512×8 = 4096, depois projetado para 256 dims + posição aprendida da faixa.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A PERGUNTA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que são os nós e as arestas?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2130552"/>
            <a:ext cx="0" cy="402335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2788920"/>
            <a:ext cx="0" cy="402336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828800" y="3447287"/>
            <a:ext cx="0" cy="402337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4105656"/>
            <a:ext cx="0" cy="402336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828800" y="4764024"/>
            <a:ext cx="0" cy="402335"/>
          </a:xfrm>
          <a:prstGeom prst="bentConnector3">
            <a:avLst/>
          </a:prstGeom>
          <a:ln w="31750">
            <a:solidFill>
              <a:srgbClr val="E266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572768" y="1874519"/>
            <a:ext cx="512064" cy="512064"/>
          </a:xfrm>
          <a:prstGeom prst="ellipse">
            <a:avLst/>
          </a:prstGeom>
          <a:solidFill>
            <a:srgbClr val="1F8F9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856231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proximal (UES)</a:t>
            </a:r>
          </a:p>
        </p:txBody>
      </p:sp>
      <p:sp>
        <p:nvSpPr>
          <p:cNvPr id="13" name="Oval 12"/>
          <p:cNvSpPr/>
          <p:nvPr/>
        </p:nvSpPr>
        <p:spPr>
          <a:xfrm>
            <a:off x="1572768" y="2532887"/>
            <a:ext cx="512064" cy="512064"/>
          </a:xfrm>
          <a:prstGeom prst="ellipse">
            <a:avLst/>
          </a:prstGeom>
          <a:solidFill>
            <a:srgbClr val="1F8F9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514599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estriado</a:t>
            </a:r>
          </a:p>
        </p:txBody>
      </p:sp>
      <p:sp>
        <p:nvSpPr>
          <p:cNvPr id="15" name="Oval 14"/>
          <p:cNvSpPr/>
          <p:nvPr/>
        </p:nvSpPr>
        <p:spPr>
          <a:xfrm>
            <a:off x="1572768" y="3191256"/>
            <a:ext cx="512064" cy="512064"/>
          </a:xfrm>
          <a:prstGeom prst="ellipse">
            <a:avLst/>
          </a:prstGeom>
          <a:solidFill>
            <a:srgbClr val="E2661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172968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transição</a:t>
            </a:r>
          </a:p>
        </p:txBody>
      </p:sp>
      <p:sp>
        <p:nvSpPr>
          <p:cNvPr id="17" name="Oval 16"/>
          <p:cNvSpPr/>
          <p:nvPr/>
        </p:nvSpPr>
        <p:spPr>
          <a:xfrm>
            <a:off x="1572768" y="3849624"/>
            <a:ext cx="512064" cy="512064"/>
          </a:xfrm>
          <a:prstGeom prst="ellipse">
            <a:avLst/>
          </a:prstGeom>
          <a:solidFill>
            <a:srgbClr val="E2661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831336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liso</a:t>
            </a:r>
          </a:p>
        </p:txBody>
      </p:sp>
      <p:sp>
        <p:nvSpPr>
          <p:cNvPr id="19" name="Oval 18"/>
          <p:cNvSpPr/>
          <p:nvPr/>
        </p:nvSpPr>
        <p:spPr>
          <a:xfrm>
            <a:off x="1572768" y="4507992"/>
            <a:ext cx="512064" cy="512064"/>
          </a:xfrm>
          <a:prstGeom prst="ellipse">
            <a:avLst/>
          </a:prstGeom>
          <a:solidFill>
            <a:srgbClr val="2EA06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489704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EEI relax.</a:t>
            </a:r>
          </a:p>
        </p:txBody>
      </p:sp>
      <p:sp>
        <p:nvSpPr>
          <p:cNvPr id="21" name="Oval 20"/>
          <p:cNvSpPr/>
          <p:nvPr/>
        </p:nvSpPr>
        <p:spPr>
          <a:xfrm>
            <a:off x="1572768" y="5166359"/>
            <a:ext cx="512064" cy="512064"/>
          </a:xfrm>
          <a:prstGeom prst="ellipse">
            <a:avLst/>
          </a:prstGeom>
          <a:solidFill>
            <a:srgbClr val="2EA06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5148072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7C8C"/>
                </a:solidFill>
                <a:latin typeface="Calibri"/>
              </a:rPr>
              <a:t>EEI fecha.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1691640"/>
            <a:ext cx="356616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8F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874519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NÓ</a:t>
            </a:r>
            <a:r>
              <a:rPr sz="1500" b="1" i="0">
                <a:solidFill>
                  <a:srgbClr val="142A3E"/>
                </a:solidFill>
                <a:latin typeface="Calibri"/>
              </a:rPr>
              <a:t>  =  uma faixa do esôfago, resumida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Uma das 6 regiões anatômicas (proximal → EEI), cada uma virando um vetor de 256 números.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794760"/>
            <a:ext cx="71323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6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977639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E2661A"/>
                </a:solidFill>
                <a:latin typeface="Consolas"/>
              </a:rPr>
              <a:t>ARESTA</a:t>
            </a:r>
            <a:r>
              <a:rPr sz="1500" b="1" i="0">
                <a:solidFill>
                  <a:srgbClr val="142A3E"/>
                </a:solidFill>
                <a:latin typeface="Calibri"/>
              </a:rPr>
              <a:t>  =  quanto um nó presta atenção em outro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Não há lista fixa: as arestas são os pesos de atenção, calculados por imagem. O </a:t>
            </a:r>
            <a:r>
              <a:rPr sz="1400" b="0" i="0">
                <a:solidFill>
                  <a:srgbClr val="33424F"/>
                </a:solidFill>
                <a:latin typeface="Consolas"/>
              </a:rPr>
              <a:t>graph_radius=2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só permite aresta entre faixas a até ±2 de distância — o resto é zerado.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1">
                <a:solidFill>
                  <a:srgbClr val="6B7C8C"/>
                </a:solidFill>
                <a:latin typeface="Calibri"/>
              </a:rPr>
              <a:t>Espelha a fisiologia: a deglutição é uma onda que se propaga de faixa em faixa.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B7C8C"/>
                </a:solidFill>
                <a:latin typeface="Calibri"/>
              </a:rPr>
              <a:t>Dois sinais reforçam a intuição de grafo (linhas 59–68): </a:t>
            </a:r>
            <a:r>
              <a:rPr sz="1300" b="1" i="0">
                <a:solidFill>
                  <a:srgbClr val="1F8F9C"/>
                </a:solidFill>
                <a:latin typeface="Calibri"/>
              </a:rPr>
              <a:t>correlação de representação</a:t>
            </a:r>
            <a:r>
              <a:rPr sz="1300" b="0" i="0">
                <a:solidFill>
                  <a:srgbClr val="6B7C8C"/>
                </a:solidFill>
                <a:latin typeface="Calibri"/>
              </a:rPr>
              <a:t> (nós parecidos → aresta forte) e </a:t>
            </a:r>
            <a:r>
              <a:rPr sz="1300" b="1" i="0">
                <a:solidFill>
                  <a:srgbClr val="E2661A"/>
                </a:solidFill>
                <a:latin typeface="Calibri"/>
              </a:rPr>
              <a:t>viés de posição relativa</a:t>
            </a:r>
            <a:r>
              <a:rPr sz="1300" b="0" i="0">
                <a:solidFill>
                  <a:srgbClr val="6B7C8C"/>
                </a:solidFill>
                <a:latin typeface="Calibri"/>
              </a:rPr>
              <a:t> (bias aprendido por distância entre faixas).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AS ARESTAS EM AÇÃO · IMAGEM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A conectividade esparsa, tornada visível</a:t>
            </a:r>
          </a:p>
        </p:txBody>
      </p:sp>
      <p:pic>
        <p:nvPicPr>
          <p:cNvPr id="6" name="Picture 5" descr="05_attention_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589520" cy="31875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828800"/>
            <a:ext cx="31089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103120"/>
            <a:ext cx="2606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Cada matriz = uma camada GAT (média das 4 cabeças).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42A3E"/>
                </a:solidFill>
                <a:latin typeface="Calibri"/>
              </a:rPr>
              <a:t>Linha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= nó que recebe · </a:t>
            </a:r>
            <a:r>
              <a:rPr sz="1400" b="1" i="0">
                <a:solidFill>
                  <a:srgbClr val="142A3E"/>
                </a:solidFill>
                <a:latin typeface="Calibri"/>
              </a:rPr>
              <a:t>coluna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= nó que envia.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A </a:t>
            </a:r>
            <a:r>
              <a:rPr sz="1400" b="1" i="0">
                <a:solidFill>
                  <a:srgbClr val="E2661A"/>
                </a:solidFill>
                <a:latin typeface="Calibri"/>
              </a:rPr>
              <a:t>faixa diagonal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é a assinatura do radius=2: cada nó só troca com vizinhos próximos. O preto são 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arestas inexistentes.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ESTÁGIOS 6–7 · IMAGEM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Uma atenção resume os 6 nós e decide</a:t>
            </a:r>
          </a:p>
        </p:txBody>
      </p:sp>
      <p:pic>
        <p:nvPicPr>
          <p:cNvPr id="6" name="Picture 5" descr="06_rea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603504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1828800"/>
            <a:ext cx="4572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103120"/>
            <a:ext cx="3931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F8F9C"/>
                </a:solidFill>
                <a:latin typeface="Consolas"/>
              </a:rPr>
              <a:t>B×6×256  →  B×256  →  6 classes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Uma </a:t>
            </a:r>
            <a:r>
              <a:rPr sz="1500" b="1" i="0">
                <a:solidFill>
                  <a:srgbClr val="E2661A"/>
                </a:solidFill>
                <a:latin typeface="Calibri"/>
              </a:rPr>
              <a:t>query aprendida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 (readout_query) pondera os 6 nós e soma tudo num único vetor da deglutição.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Nesta imagem de Jackhammer, ~100% do peso vai para o nó 2 → LayerNorm→Dropout→Linear → softmax.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2EA06A"/>
                </a:solidFill>
                <a:latin typeface="Calibri"/>
              </a:rPr>
              <a:t>Predição correta com probabilidade 1.00.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O PONTO CLÍNICO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Como o grafo distingue os diagnósticos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33424F"/>
                </a:solidFill>
                <a:latin typeface="Calibri"/>
              </a:rPr>
              <a:t>Cada diagnóstico é um </a:t>
            </a:r>
            <a:r>
              <a:rPr sz="1500" b="1" i="0">
                <a:solidFill>
                  <a:srgbClr val="E2661A"/>
                </a:solidFill>
                <a:latin typeface="Calibri"/>
              </a:rPr>
              <a:t>padrão de relação entre regiões</a:t>
            </a:r>
            <a:r>
              <a:rPr sz="1500" b="0" i="0">
                <a:solidFill>
                  <a:srgbClr val="33424F"/>
                </a:solidFill>
                <a:latin typeface="Calibri"/>
              </a:rPr>
              <a:t> — exatamente o que as arestas capturam e um vetor global achataria.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2377440" cy="54864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148840"/>
            <a:ext cx="5623560" cy="54864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214884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Assinatura entre regiões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2148840"/>
            <a:ext cx="2926080" cy="54864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14884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Quem ‘conversa’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9748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normal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697480"/>
            <a:ext cx="5623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79" y="269748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onda desce suave; EEI relaxa quando a onda chega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269748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69748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cadeia de nós adjacentes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237744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24612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Jackhammer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246120"/>
            <a:ext cx="562356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79" y="3246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contração de amplitude extrema numa faixa distal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3246120"/>
            <a:ext cx="292608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24612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nó distal ↔ vizinhos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947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794760"/>
            <a:ext cx="5623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79" y="379476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contrações prematuras / fora de fase entre faixas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379476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79476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faixas dessincronizadas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43400"/>
            <a:ext cx="237744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34340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EGJ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343400"/>
            <a:ext cx="562356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79" y="434340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obstrução de saída: EEI não relaxa vs. corpo pressuriza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1080" y="4343400"/>
            <a:ext cx="292608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434340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nó 5 (EEI) ↔ nó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892040"/>
            <a:ext cx="23774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89204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IEM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4892040"/>
            <a:ext cx="5623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54679" y="489204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peristalse fraca / ausente em várias faixas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1080" y="489204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4892040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nós fracos por todo o eixo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440679"/>
            <a:ext cx="237744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440679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Bradycardia II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5440679"/>
            <a:ext cx="562356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54679" y="5440679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424F"/>
                </a:solidFill>
                <a:latin typeface="Calibri"/>
              </a:rPr>
              <a:t>condução temporal lenta ao longo das faixas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1080" y="5440679"/>
            <a:ext cx="2926080" cy="548640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5440679"/>
            <a:ext cx="2697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33424F"/>
                </a:solidFill>
                <a:latin typeface="Consolas"/>
              </a:rPr>
              <a:t>defasagem temporal entre nós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RESULTADO NO TESTE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Desempenho do wang_cvp_gat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2606040" cy="1188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2EA06A"/>
                </a:solidFill>
                <a:latin typeface="Consolas"/>
              </a:rPr>
              <a:t>97,2 %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acurácia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606040" cy="1188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24028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2EA06A"/>
                </a:solidFill>
                <a:latin typeface="Consolas"/>
              </a:rPr>
              <a:t>0,976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macro-F1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828800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606040" cy="1188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4028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2EA06A"/>
                </a:solidFill>
                <a:latin typeface="Consolas"/>
              </a:rPr>
              <a:t>0,982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macro-recall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828800"/>
            <a:ext cx="26060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0" y="1828800"/>
            <a:ext cx="2606040" cy="118872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24028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F8F9C"/>
                </a:solidFill>
                <a:latin typeface="Consolas"/>
              </a:rPr>
              <a:t>1,00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15468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6B7C8C"/>
                </a:solidFill>
                <a:latin typeface="Calibri"/>
              </a:rPr>
              <a:t>F1 na classe EGJ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Melhor época 17 · macro-F1 de validação 0,988.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33424F"/>
                </a:solidFill>
                <a:latin typeface="Calibri"/>
              </a:rPr>
              <a:t>Classe mais difícil: </a:t>
            </a:r>
            <a:r>
              <a:rPr sz="1600" b="1" i="0">
                <a:solidFill>
                  <a:srgbClr val="E2661A"/>
                </a:solidFill>
                <a:latin typeface="Calibri"/>
              </a:rPr>
              <a:t>IEM</a:t>
            </a:r>
            <a:r>
              <a:rPr sz="1600" b="0" i="0">
                <a:solidFill>
                  <a:srgbClr val="33424F"/>
                </a:solidFill>
                <a:latin typeface="Calibri"/>
              </a:rPr>
              <a:t> (recall 0,92) — coerente, já que peristalse fraca é o padrão de menor sinal, fácil de confundir com normal.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1">
                <a:solidFill>
                  <a:srgbClr val="6B7C8C"/>
                </a:solidFill>
                <a:latin typeface="Calibri"/>
              </a:rPr>
              <a:t>Observação: nossos 6 diagnósticos são uma tarefa mais fina que os 3 grupos de vigor do artigo original.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43200"/>
            <a:ext cx="1463040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1F8F9C"/>
                </a:solidFill>
                <a:latin typeface="Consolas"/>
              </a:rPr>
              <a:t>PARTE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Quão fiel é ao artigo Wang (2021)?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B5C5D4"/>
                </a:solidFill>
                <a:latin typeface="Calibri"/>
              </a:rPr>
              <a:t>Comparando nossa implementação com o CVP-GAT original, mecanismo por mecanismo.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REFERÊNCIA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A arquitetura original de Wang 2021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8F9C"/>
                </a:solidFill>
                <a:latin typeface="Consolas"/>
              </a:rPr>
              <a:t>HRM  →  Mask R-CNN + RoIAlign  →  FC  →  grafo (CVP)  →  2× GAT  →  atenção  →  softmax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Backbone: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Mask R-CNN (Inception-v3 / VGG16) — segmentação de instâncias + RoIAlign extraem cada vigor.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Nó: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uma instância de vigor detectada, com vetor de features 64-D e coordenada do centro do bounding box (xᵢ,yᵢ).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Aresta (Eq. 1):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Gᵢⱼ = f( f_a(aᵢ,aⱼ), f_c(cᵢ,cⱼ) ) — funde correlação de representação e de posição, normalizada.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f_a: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ReLU(Wₐ·[aᵢ,aⱼ]+bₐ) — concatena features e passa por linear+ReLU.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f_c: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ReLU(W_c·Φ(cᵢ,cⱼ)+b_c) — Φ = embedding senoidal da distância entre bounding boxes.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Esparsidade: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‘sparse CVP’ — conecta só vigor numa vizinhança local.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2661A"/>
                </a:solidFill>
                <a:latin typeface="Calibri"/>
              </a:rPr>
              <a:t>•  </a:t>
            </a:r>
            <a:r>
              <a:rPr sz="1450" b="1" i="0">
                <a:solidFill>
                  <a:srgbClr val="142A3E"/>
                </a:solidFill>
                <a:latin typeface="Calibri"/>
              </a:rPr>
              <a:t>Leitura + perda: </a:t>
            </a:r>
            <a:r>
              <a:rPr sz="1450" b="0" i="0">
                <a:solidFill>
                  <a:srgbClr val="33424F"/>
                </a:solidFill>
                <a:latin typeface="Calibri"/>
              </a:rPr>
              <a:t>context vector Cont=Σaᵢhᵢ; perda dupla L1 (nó) + λ·L2 (propagação); 3 classes (normal/weak/failed).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FIDELIDADE CONCEITUAL — 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que foi mantido do artigo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200400" cy="5760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65960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Conceito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965960"/>
            <a:ext cx="3566160" cy="5760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1965960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 artigo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965960"/>
            <a:ext cx="4160520" cy="576072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16367" y="1965960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Na nossa implementação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42032"/>
            <a:ext cx="3200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42032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Deglutição como grafo de
regiões de vigor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542032"/>
            <a:ext cx="35661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542032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6 regiões nomeadas (Fig. 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542032"/>
            <a:ext cx="4160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7" y="2542032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6 nós (num_graph_nodes=6)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18104"/>
            <a:ext cx="320040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118104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Aresta = representação +
posição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3118104"/>
            <a:ext cx="356616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0208" y="3118104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Eq. 1: G = f(f_a, f_c)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118104"/>
            <a:ext cx="416052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7" y="3118104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logits += corr. de repr. + viés de posição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94176"/>
            <a:ext cx="3200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694176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Conectividade esparsa local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3694176"/>
            <a:ext cx="35661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0208" y="3694176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‘sparse CVP’, só vizinhança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694176"/>
            <a:ext cx="4160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7" y="3694176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graph_radius=2 mascara não-vizinhos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270248"/>
            <a:ext cx="320040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270248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Leitura por atenção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4270248"/>
            <a:ext cx="356616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0208" y="4270248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context vector Σ aᵢ·hᵢ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270248"/>
            <a:ext cx="416052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7" y="4270248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readout_query + softmax + soma ponderada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846320"/>
            <a:ext cx="32004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846320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CNN antes do grafo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4846320"/>
            <a:ext cx="35661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50208" y="4846320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ConvNet (Inception/VGG)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846320"/>
            <a:ext cx="41605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7" y="4846320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ResNet18 / DenseNet201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422392"/>
            <a:ext cx="320040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422392"/>
            <a:ext cx="301752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2A3E"/>
                </a:solidFill>
                <a:latin typeface="Calibri"/>
              </a:rPr>
              <a:t>Empilhar camadas de atenção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5422392"/>
            <a:ext cx="356616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50208" y="5422392"/>
            <a:ext cx="33832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alibri"/>
              </a:rPr>
              <a:t>Conv1 + Conv2 + atenção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5422392"/>
            <a:ext cx="4160520" cy="57607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16367" y="5422392"/>
            <a:ext cx="397763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33424F"/>
                </a:solidFill>
                <a:latin typeface="Consolas"/>
              </a:rPr>
              <a:t>graph_num_layers =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A06A"/>
                </a:solidFill>
                <a:latin typeface="Calibri"/>
              </a:rPr>
              <a:t>→ Os cinco pilares do método CVP-GAT estão presentes.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FIDELIDADE DE IMPLEMENTAÇÃO — MÉDIA/BAIXA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O que foi re-engenhado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2286000" cy="484632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Aspecto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874519"/>
            <a:ext cx="3246120" cy="484632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874519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Artigo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74519"/>
            <a:ext cx="3429000" cy="484632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874519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Nossa implementação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1874519"/>
            <a:ext cx="1691640" cy="484632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874519"/>
            <a:ext cx="155448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9152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59152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Como os nós nascem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359152"/>
            <a:ext cx="32461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359152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regiões detectadas c/
coordenada real (x,y)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359152"/>
            <a:ext cx="3429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2359152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6 faixas de altura fixa
(partição geométrica)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2359152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46920" y="2450592"/>
            <a:ext cx="1325880" cy="301752"/>
          </a:xfrm>
          <a:prstGeom prst="roundRect">
            <a:avLst/>
          </a:prstGeom>
          <a:solidFill>
            <a:srgbClr val="C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432304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Grande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843784"/>
            <a:ext cx="2286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43784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Feature do nó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2843784"/>
            <a:ext cx="324612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2843784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64-D + coordenada (x,y)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843784"/>
            <a:ext cx="3429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2843784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256-D, sem coordenada explícita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2843784"/>
            <a:ext cx="169164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6920" y="2935224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2916936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328415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328415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f_a (representação)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3328415"/>
            <a:ext cx="32461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3328415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ReLU(W·[aᵢ,aⱼ]+b)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328415"/>
            <a:ext cx="3429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79" y="3328415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similaridade de cosseno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3328415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46920" y="3419856"/>
            <a:ext cx="1325880" cy="301752"/>
          </a:xfrm>
          <a:prstGeom prst="round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6920" y="3401568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Baixo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813048"/>
            <a:ext cx="2286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813048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f_c (posição)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3813048"/>
            <a:ext cx="324612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3813048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embedding senoidal do bbox 2-D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813048"/>
            <a:ext cx="3429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79" y="3813048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bias aprendido por índice 1-D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64040" y="3813048"/>
            <a:ext cx="169164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646920" y="3904487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46920" y="3886200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297680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297680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Bloco de atenção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4297680"/>
            <a:ext cx="32461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80360" y="4297680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GAT / soft attention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4297680"/>
            <a:ext cx="3429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79" y="4297680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Transformer multi-head (QKV+MLP)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64040" y="4297680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646920" y="4389120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46920" y="4370832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782312"/>
            <a:ext cx="2286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782312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Nº de nós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88920" y="4782312"/>
            <a:ext cx="324612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80360" y="4782312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ablação: 50 melhor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4782312"/>
            <a:ext cx="3429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79" y="4782312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fixo em 6 (segue a anatomia)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64040" y="4782312"/>
            <a:ext cx="169164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646920" y="4873752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4855464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5266944"/>
            <a:ext cx="2286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5266944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Perda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88920" y="5266944"/>
            <a:ext cx="324612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80360" y="5266944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dupla: L1(nó)+λ·L2(prop.)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5266944"/>
            <a:ext cx="34290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26479" y="5266944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única: cross-entropy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64040" y="5266944"/>
            <a:ext cx="16916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646920" y="5358383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46920" y="5340096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Médio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" y="5751576"/>
            <a:ext cx="2286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5751576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42A3E"/>
                </a:solidFill>
                <a:latin typeface="Calibri"/>
              </a:rPr>
              <a:t>Classes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88920" y="5751576"/>
            <a:ext cx="324612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80360" y="5751576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3 (normal/weak/failed, por DCI)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0" y="5751576"/>
            <a:ext cx="342900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26479" y="5751576"/>
            <a:ext cx="3291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424F"/>
                </a:solidFill>
                <a:latin typeface="Calibri"/>
              </a:rPr>
              <a:t>6 diagnósticos clínicos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64040" y="5751576"/>
            <a:ext cx="1691640" cy="484632"/>
          </a:xfrm>
          <a:prstGeom prst="rect">
            <a:avLst/>
          </a:prstGeom>
          <a:solidFill>
            <a:srgbClr val="EDE7DE"/>
          </a:solidFill>
          <a:ln w="635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646920" y="5843016"/>
            <a:ext cx="1325880" cy="301752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46920" y="5824728"/>
            <a:ext cx="1325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Tarefa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A DIFERENÇA CRÍTICA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Como nascem os nós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394960" cy="128016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E2661A"/>
                </a:solidFill>
                <a:latin typeface="Consolas"/>
              </a:rPr>
              <a:t>ARTIGO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42A3E"/>
                </a:solidFill>
                <a:latin typeface="Calibri"/>
              </a:rPr>
              <a:t>Nó = região específica
localizada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Mask R-CNN detecta cada evento contrátil </a:t>
            </a:r>
            <a:r>
              <a:rPr sz="1400" b="1" i="0">
                <a:solidFill>
                  <a:srgbClr val="E2661A"/>
                </a:solidFill>
                <a:latin typeface="Calibri"/>
              </a:rPr>
              <a:t>onde ele de fato está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— com coordenada real cᵢ=(xᵢ,yᵢ). Os nós acompanham a onda diagonal e mudam a cada exame.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A correlação de posição f_c usa a </a:t>
            </a:r>
            <a:r>
              <a:rPr sz="1400" b="1" i="0">
                <a:solidFill>
                  <a:srgbClr val="E2661A"/>
                </a:solidFill>
                <a:latin typeface="Calibri"/>
              </a:rPr>
              <a:t>distância 2-D real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entre os centros.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1">
                <a:solidFill>
                  <a:srgbClr val="6B7C8C"/>
                </a:solidFill>
                <a:latin typeface="Calibri"/>
              </a:rPr>
              <a:t>Custo: pipeline pesado, precisa de caixas de vigor rotuladas.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349240" cy="128016"/>
          </a:xfrm>
          <a:prstGeom prst="rect">
            <a:avLst/>
          </a:prstGeom>
          <a:solidFill>
            <a:srgbClr val="1F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800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8F9C"/>
                </a:solidFill>
                <a:latin typeface="Consolas"/>
              </a:rPr>
              <a:t>NOSSA IMPLEMENTAÇÃO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42A3E"/>
                </a:solidFill>
                <a:latin typeface="Calibri"/>
              </a:rPr>
              <a:t>Nó = faixa de altura fixa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33424F"/>
                </a:solidFill>
                <a:latin typeface="Consolas"/>
              </a:rPr>
              <a:t>AdaptiveAvgPool2d((6,8))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divide o mapa em 6 faixas de </a:t>
            </a:r>
            <a:r>
              <a:rPr sz="1400" b="1" i="0">
                <a:solidFill>
                  <a:srgbClr val="1F8F9C"/>
                </a:solidFill>
                <a:latin typeface="Calibri"/>
              </a:rPr>
              <a:t>altura igual e fixa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 (1/6 da imagem). O nó 0 é sempre ‘o topo’ — partição geométrica, não região funcional.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33424F"/>
                </a:solidFill>
                <a:latin typeface="Calibri"/>
              </a:rPr>
              <a:t>A ‘posição’ é só o </a:t>
            </a:r>
            <a:r>
              <a:rPr sz="1400" b="1" i="0">
                <a:solidFill>
                  <a:srgbClr val="1F8F9C"/>
                </a:solidFill>
                <a:latin typeface="Calibri"/>
              </a:rPr>
              <a:t>índice da faixa (1-D)</a:t>
            </a:r>
            <a:r>
              <a:rPr sz="1400" b="0" i="0">
                <a:solidFill>
                  <a:srgbClr val="33424F"/>
                </a:solidFill>
                <a:latin typeface="Calibri"/>
              </a:rPr>
              <a:t>, via viés relativo aprendido — sem coordenada de tempo.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400" b="0" i="0">
                <a:solidFill>
                  <a:srgbClr val="33424F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1">
                <a:solidFill>
                  <a:srgbClr val="6B7C8C"/>
                </a:solidFill>
                <a:latin typeface="Calibri"/>
              </a:rPr>
              <a:t>Ganho: leve, treina de ponta a ponta só com o rótulo do diagnóstico.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53328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42A3E"/>
                </a:solidFill>
                <a:latin typeface="Calibri"/>
              </a:rPr>
              <a:t>A distância maior: </a:t>
            </a:r>
            <a:r>
              <a:rPr sz="1350" b="0" i="0">
                <a:solidFill>
                  <a:srgbClr val="142A3E"/>
                </a:solidFill>
                <a:latin typeface="Calibri"/>
              </a:rPr>
              <a:t>‘região específica com posição real 2-D’ vira ‘faixa de altura fixa com posição = índice’. Some a localização temporal do nó.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8F9C"/>
                </a:solidFill>
                <a:latin typeface="Consolas"/>
              </a:rPr>
              <a:t>SÍNTESE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42A3E"/>
                </a:solidFill>
                <a:latin typeface="Calibri"/>
              </a:rPr>
              <a:t>Veredito de fidelidade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474720" cy="128016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3E"/>
                </a:solidFill>
                <a:latin typeface="Calibri"/>
              </a:rPr>
              <a:t>Conceito / intenção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1737360" cy="502920"/>
          </a:xfrm>
          <a:prstGeom prst="round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24F"/>
                </a:solidFill>
                <a:latin typeface="Calibri"/>
              </a:rPr>
              <a:t>Os 5 pilares do CVP-GAT — grafo de 6 regiões de vigor, aresta = representação + posição, esparsidade local, leitura por atenção, CNN na base — estão todos presentes.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474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474720" cy="128016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3E"/>
                </a:solidFill>
                <a:latin typeface="Calibri"/>
              </a:rPr>
              <a:t>Mecanismo / matemática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606040"/>
            <a:ext cx="1737360" cy="502920"/>
          </a:xfrm>
          <a:prstGeom prst="round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587752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MÉDIA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33756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24F"/>
                </a:solidFill>
                <a:latin typeface="Calibri"/>
              </a:rPr>
              <a:t>Mesma intenção, funções diferentes: cosseno no lugar de ReLU(W·concat); bias relativo 1-D no lugar do embedding senoidal 2-D; Transformer no lugar do GAT clássico.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737360"/>
            <a:ext cx="34747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  <a:effectLst/>
          <a:effectLst>
            <a:outerShdw blurRad="60000" dist="25000" dir="5400000" rotWithShape="0">
              <a:srgbClr val="8A7A6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1737360"/>
            <a:ext cx="3474720" cy="128016"/>
          </a:xfrm>
          <a:prstGeom prst="rect">
            <a:avLst/>
          </a:prstGeom>
          <a:solidFill>
            <a:srgbClr val="C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A3E"/>
                </a:solidFill>
                <a:latin typeface="Calibri"/>
              </a:rPr>
              <a:t>Arquitetura / tarefa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606040"/>
            <a:ext cx="1737360" cy="502920"/>
          </a:xfrm>
          <a:prstGeom prst="roundRect">
            <a:avLst/>
          </a:prstGeom>
          <a:solidFill>
            <a:srgbClr val="C0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587752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BAIXA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3756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33424F"/>
                </a:solidFill>
                <a:latin typeface="Calibri"/>
              </a:rPr>
              <a:t>Sem Mask R-CNN/RoIAlign; nós por pooling, não por detecção; perda única, não dupla; 6 diagnósticos clínicos, não 3 grupos de vigor por DCI.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943600"/>
            <a:ext cx="10927080" cy="685800"/>
          </a:xfrm>
          <a:prstGeom prst="round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8F9C"/>
                </a:solidFill>
                <a:latin typeface="Calibri"/>
              </a:rPr>
              <a:t>Em uma frase: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uma reinterpretação fiel à ideia e modernizada na engenharia — ‘Wang-inspired’, não uma reprodução — aplicada a uma tarefa clínica mais difícil.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463040" cy="109728"/>
          </a:xfrm>
          <a:prstGeom prst="rect">
            <a:avLst/>
          </a:prstGeom>
          <a:solidFill>
            <a:srgbClr val="E26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Obrigado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B5C5D4"/>
                </a:solidFill>
                <a:latin typeface="Consolas"/>
              </a:rPr>
              <a:t>Código: manometry_models/graph_model.py  ·  checkpoint: artifacts/wang_cvp_gat_pretrained/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1">
                <a:solidFill>
                  <a:srgbClr val="9FB3C4"/>
                </a:solidFill>
                <a:latin typeface="Calibri"/>
              </a:rPr>
              <a:t>Figuras 2–6 são ativações reais capturadas por hooks numa imagem de Jackhammer.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8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8A9EB0"/>
                </a:solidFill>
                <a:latin typeface="Calibri"/>
              </a:rPr>
              <a:t>Wang, Yan, Dai, Lu, Zhang, Hou, Liu (2021). Attention graph convolutional nets for esophageal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8A9EB0"/>
                </a:solidFill>
                <a:latin typeface="Calibri"/>
              </a:rPr>
              <a:t>contraction pattern recognition in high-resolution manometries. Biomed. Signal Process. Control 68, 102734.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